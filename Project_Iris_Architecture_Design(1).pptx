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9" r:id="rId2"/>
    <p:sldId id="262" r:id="rId3"/>
    <p:sldId id="265" r:id="rId4"/>
    <p:sldId id="263" r:id="rId5"/>
    <p:sldId id="264" r:id="rId6"/>
    <p:sldId id="267" r:id="rId7"/>
    <p:sldId id="268" r:id="rId8"/>
    <p:sldId id="270" r:id="rId9"/>
    <p:sldId id="266" r:id="rId10"/>
    <p:sldId id="272" r:id="rId11"/>
    <p:sldId id="273" r:id="rId12"/>
    <p:sldId id="274" r:id="rId13"/>
    <p:sldId id="275" r:id="rId14"/>
    <p:sldId id="276" r:id="rId15"/>
    <p:sldId id="27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eenath KP" userId="6e33dbd69e7a919a" providerId="LiveId" clId="{D81BE0E1-E541-4C08-8D3C-ABFCDF32D542}"/>
    <pc:docChg chg="undo custSel modSld">
      <pc:chgData name="Sreenath KP" userId="6e33dbd69e7a919a" providerId="LiveId" clId="{D81BE0E1-E541-4C08-8D3C-ABFCDF32D542}" dt="2025-09-16T06:24:24.128" v="757" actId="1037"/>
      <pc:docMkLst>
        <pc:docMk/>
      </pc:docMkLst>
      <pc:sldChg chg="addSp modSp mod">
        <pc:chgData name="Sreenath KP" userId="6e33dbd69e7a919a" providerId="LiveId" clId="{D81BE0E1-E541-4C08-8D3C-ABFCDF32D542}" dt="2025-09-16T06:24:24.128" v="757" actId="1037"/>
        <pc:sldMkLst>
          <pc:docMk/>
          <pc:sldMk cId="4197700178" sldId="257"/>
        </pc:sldMkLst>
        <pc:spChg chg="mod">
          <ac:chgData name="Sreenath KP" userId="6e33dbd69e7a919a" providerId="LiveId" clId="{D81BE0E1-E541-4C08-8D3C-ABFCDF32D542}" dt="2025-09-16T06:24:24.128" v="757" actId="1037"/>
          <ac:spMkLst>
            <pc:docMk/>
            <pc:sldMk cId="4197700178" sldId="257"/>
            <ac:spMk id="5" creationId="{15D51B05-134F-CEAA-68E0-1343E63152F1}"/>
          </ac:spMkLst>
        </pc:spChg>
        <pc:spChg chg="mod">
          <ac:chgData name="Sreenath KP" userId="6e33dbd69e7a919a" providerId="LiveId" clId="{D81BE0E1-E541-4C08-8D3C-ABFCDF32D542}" dt="2025-09-16T06:23:09.697" v="673" actId="20577"/>
          <ac:spMkLst>
            <pc:docMk/>
            <pc:sldMk cId="4197700178" sldId="257"/>
            <ac:spMk id="6" creationId="{A661DDA0-8389-4635-D96E-18EE90ECD6F5}"/>
          </ac:spMkLst>
        </pc:spChg>
        <pc:spChg chg="add mod">
          <ac:chgData name="Sreenath KP" userId="6e33dbd69e7a919a" providerId="LiveId" clId="{D81BE0E1-E541-4C08-8D3C-ABFCDF32D542}" dt="2025-09-16T06:12:36.345" v="211" actId="1035"/>
          <ac:spMkLst>
            <pc:docMk/>
            <pc:sldMk cId="4197700178" sldId="257"/>
            <ac:spMk id="8" creationId="{15C52038-8B1D-EBB2-B461-53230EA33B27}"/>
          </ac:spMkLst>
        </pc:spChg>
        <pc:spChg chg="add mod">
          <ac:chgData name="Sreenath KP" userId="6e33dbd69e7a919a" providerId="LiveId" clId="{D81BE0E1-E541-4C08-8D3C-ABFCDF32D542}" dt="2025-09-16T06:18:52.431" v="319" actId="14100"/>
          <ac:spMkLst>
            <pc:docMk/>
            <pc:sldMk cId="4197700178" sldId="257"/>
            <ac:spMk id="45" creationId="{5EA43AE5-72D9-2DD1-7E67-F50E0F6A7BD6}"/>
          </ac:spMkLst>
        </pc:spChg>
        <pc:spChg chg="add mod">
          <ac:chgData name="Sreenath KP" userId="6e33dbd69e7a919a" providerId="LiveId" clId="{D81BE0E1-E541-4C08-8D3C-ABFCDF32D542}" dt="2025-09-16T06:20:45.237" v="348" actId="1076"/>
          <ac:spMkLst>
            <pc:docMk/>
            <pc:sldMk cId="4197700178" sldId="257"/>
            <ac:spMk id="53" creationId="{D0FF54D6-BC9B-27D5-9FB3-BE48D434EA27}"/>
          </ac:spMkLst>
        </pc:spChg>
        <pc:spChg chg="add mod">
          <ac:chgData name="Sreenath KP" userId="6e33dbd69e7a919a" providerId="LiveId" clId="{D81BE0E1-E541-4C08-8D3C-ABFCDF32D542}" dt="2025-09-16T06:21:01.168" v="381" actId="1076"/>
          <ac:spMkLst>
            <pc:docMk/>
            <pc:sldMk cId="4197700178" sldId="257"/>
            <ac:spMk id="54" creationId="{EB83A858-1A29-56E7-A543-54539A2C9E3B}"/>
          </ac:spMkLst>
        </pc:spChg>
        <pc:spChg chg="add mod">
          <ac:chgData name="Sreenath KP" userId="6e33dbd69e7a919a" providerId="LiveId" clId="{D81BE0E1-E541-4C08-8D3C-ABFCDF32D542}" dt="2025-09-16T06:21:18.077" v="425" actId="1076"/>
          <ac:spMkLst>
            <pc:docMk/>
            <pc:sldMk cId="4197700178" sldId="257"/>
            <ac:spMk id="55" creationId="{1F304D95-672F-63FC-3948-168709E6312A}"/>
          </ac:spMkLst>
        </pc:spChg>
        <pc:spChg chg="add mod">
          <ac:chgData name="Sreenath KP" userId="6e33dbd69e7a919a" providerId="LiveId" clId="{D81BE0E1-E541-4C08-8D3C-ABFCDF32D542}" dt="2025-09-16T06:21:50.366" v="489" actId="20577"/>
          <ac:spMkLst>
            <pc:docMk/>
            <pc:sldMk cId="4197700178" sldId="257"/>
            <ac:spMk id="56" creationId="{EC9EA6DA-D8EC-67BE-B110-2DD1F6EE8A40}"/>
          </ac:spMkLst>
        </pc:spChg>
        <pc:spChg chg="add mod">
          <ac:chgData name="Sreenath KP" userId="6e33dbd69e7a919a" providerId="LiveId" clId="{D81BE0E1-E541-4C08-8D3C-ABFCDF32D542}" dt="2025-09-16T06:23:32.355" v="723" actId="1076"/>
          <ac:spMkLst>
            <pc:docMk/>
            <pc:sldMk cId="4197700178" sldId="257"/>
            <ac:spMk id="58" creationId="{FD3DFAB4-4DC2-DFE4-BEC6-EA0C8F680097}"/>
          </ac:spMkLst>
        </pc:spChg>
        <pc:spChg chg="add mod">
          <ac:chgData name="Sreenath KP" userId="6e33dbd69e7a919a" providerId="LiveId" clId="{D81BE0E1-E541-4C08-8D3C-ABFCDF32D542}" dt="2025-09-16T06:24:08.638" v="746" actId="1036"/>
          <ac:spMkLst>
            <pc:docMk/>
            <pc:sldMk cId="4197700178" sldId="257"/>
            <ac:spMk id="59" creationId="{20D9C1B8-7300-A4E4-E552-5DD5B598135F}"/>
          </ac:spMkLst>
        </pc:spChg>
        <pc:spChg chg="add mod">
          <ac:chgData name="Sreenath KP" userId="6e33dbd69e7a919a" providerId="LiveId" clId="{D81BE0E1-E541-4C08-8D3C-ABFCDF32D542}" dt="2025-09-16T06:24:18.947" v="751" actId="1035"/>
          <ac:spMkLst>
            <pc:docMk/>
            <pc:sldMk cId="4197700178" sldId="257"/>
            <ac:spMk id="60" creationId="{05417491-B9AC-8304-63D4-346D5F46F4E6}"/>
          </ac:spMkLst>
        </pc:spChg>
        <pc:picChg chg="add mod">
          <ac:chgData name="Sreenath KP" userId="6e33dbd69e7a919a" providerId="LiveId" clId="{D81BE0E1-E541-4C08-8D3C-ABFCDF32D542}" dt="2025-09-16T06:10:56.587" v="189" actId="1076"/>
          <ac:picMkLst>
            <pc:docMk/>
            <pc:sldMk cId="4197700178" sldId="257"/>
            <ac:picMk id="3" creationId="{609E37DB-2DDB-5EB2-3EAC-81502C84133C}"/>
          </ac:picMkLst>
        </pc:picChg>
        <pc:picChg chg="add mod">
          <ac:chgData name="Sreenath KP" userId="6e33dbd69e7a919a" providerId="LiveId" clId="{D81BE0E1-E541-4C08-8D3C-ABFCDF32D542}" dt="2025-09-16T06:10:53.665" v="188" actId="1076"/>
          <ac:picMkLst>
            <pc:docMk/>
            <pc:sldMk cId="4197700178" sldId="257"/>
            <ac:picMk id="7" creationId="{E11DB085-22C3-907D-362A-AF2311314CE2}"/>
          </ac:picMkLst>
        </pc:picChg>
        <pc:picChg chg="add mod">
          <ac:chgData name="Sreenath KP" userId="6e33dbd69e7a919a" providerId="LiveId" clId="{D81BE0E1-E541-4C08-8D3C-ABFCDF32D542}" dt="2025-09-16T06:13:28.541" v="215" actId="1076"/>
          <ac:picMkLst>
            <pc:docMk/>
            <pc:sldMk cId="4197700178" sldId="257"/>
            <ac:picMk id="10" creationId="{23507065-0C80-DF21-F679-18CC4D551DF0}"/>
          </ac:picMkLst>
        </pc:picChg>
        <pc:picChg chg="add mod">
          <ac:chgData name="Sreenath KP" userId="6e33dbd69e7a919a" providerId="LiveId" clId="{D81BE0E1-E541-4C08-8D3C-ABFCDF32D542}" dt="2025-09-16T06:17:22.297" v="246" actId="1076"/>
          <ac:picMkLst>
            <pc:docMk/>
            <pc:sldMk cId="4197700178" sldId="257"/>
            <ac:picMk id="12" creationId="{0954A6D3-50B0-DE1D-73FA-2D658F66C7F6}"/>
          </ac:picMkLst>
        </pc:picChg>
        <pc:picChg chg="add mod">
          <ac:chgData name="Sreenath KP" userId="6e33dbd69e7a919a" providerId="LiveId" clId="{D81BE0E1-E541-4C08-8D3C-ABFCDF32D542}" dt="2025-09-16T06:15:27.786" v="220" actId="1076"/>
          <ac:picMkLst>
            <pc:docMk/>
            <pc:sldMk cId="4197700178" sldId="257"/>
            <ac:picMk id="14" creationId="{F698EB00-8E66-76D9-C456-CF428274439F}"/>
          </ac:picMkLst>
        </pc:picChg>
        <pc:picChg chg="add mod">
          <ac:chgData name="Sreenath KP" userId="6e33dbd69e7a919a" providerId="LiveId" clId="{D81BE0E1-E541-4C08-8D3C-ABFCDF32D542}" dt="2025-09-16T06:17:24.387" v="247" actId="1076"/>
          <ac:picMkLst>
            <pc:docMk/>
            <pc:sldMk cId="4197700178" sldId="257"/>
            <ac:picMk id="19" creationId="{865D443C-E9EB-EDDF-2707-B8B678903392}"/>
          </ac:picMkLst>
        </pc:picChg>
        <pc:picChg chg="add mod">
          <ac:chgData name="Sreenath KP" userId="6e33dbd69e7a919a" providerId="LiveId" clId="{D81BE0E1-E541-4C08-8D3C-ABFCDF32D542}" dt="2025-09-16T06:18:00.734" v="299" actId="1035"/>
          <ac:picMkLst>
            <pc:docMk/>
            <pc:sldMk cId="4197700178" sldId="257"/>
            <ac:picMk id="29" creationId="{DDCF2C84-8EBE-452B-D553-08E3BF78D961}"/>
          </ac:picMkLst>
        </pc:picChg>
        <pc:picChg chg="add mod">
          <ac:chgData name="Sreenath KP" userId="6e33dbd69e7a919a" providerId="LiveId" clId="{D81BE0E1-E541-4C08-8D3C-ABFCDF32D542}" dt="2025-09-16T06:20:23.744" v="334" actId="1076"/>
          <ac:picMkLst>
            <pc:docMk/>
            <pc:sldMk cId="4197700178" sldId="257"/>
            <ac:picMk id="47" creationId="{0F1BA965-F41B-5B24-4483-BDC356C4B7CD}"/>
          </ac:picMkLst>
        </pc:picChg>
        <pc:picChg chg="add mod">
          <ac:chgData name="Sreenath KP" userId="6e33dbd69e7a919a" providerId="LiveId" clId="{D81BE0E1-E541-4C08-8D3C-ABFCDF32D542}" dt="2025-09-16T06:23:18.304" v="674"/>
          <ac:picMkLst>
            <pc:docMk/>
            <pc:sldMk cId="4197700178" sldId="257"/>
            <ac:picMk id="57" creationId="{F0997879-A61B-F27D-D070-FA70652FE8AB}"/>
          </ac:picMkLst>
        </pc:picChg>
        <pc:cxnChg chg="add mod">
          <ac:chgData name="Sreenath KP" userId="6e33dbd69e7a919a" providerId="LiveId" clId="{D81BE0E1-E541-4C08-8D3C-ABFCDF32D542}" dt="2025-09-16T06:17:24.387" v="247" actId="1076"/>
          <ac:cxnSpMkLst>
            <pc:docMk/>
            <pc:sldMk cId="4197700178" sldId="257"/>
            <ac:cxnSpMk id="16" creationId="{8C0DFF95-2671-6211-97E8-F59F9688626B}"/>
          </ac:cxnSpMkLst>
        </pc:cxnChg>
        <pc:cxnChg chg="add mod">
          <ac:chgData name="Sreenath KP" userId="6e33dbd69e7a919a" providerId="LiveId" clId="{D81BE0E1-E541-4C08-8D3C-ABFCDF32D542}" dt="2025-09-16T06:17:28.765" v="249" actId="14100"/>
          <ac:cxnSpMkLst>
            <pc:docMk/>
            <pc:sldMk cId="4197700178" sldId="257"/>
            <ac:cxnSpMk id="23" creationId="{A50D7728-DCCA-E58C-DC45-EDC063771B18}"/>
          </ac:cxnSpMkLst>
        </pc:cxnChg>
        <pc:cxnChg chg="add mod">
          <ac:chgData name="Sreenath KP" userId="6e33dbd69e7a919a" providerId="LiveId" clId="{D81BE0E1-E541-4C08-8D3C-ABFCDF32D542}" dt="2025-09-16T06:17:32.974" v="250" actId="14100"/>
          <ac:cxnSpMkLst>
            <pc:docMk/>
            <pc:sldMk cId="4197700178" sldId="257"/>
            <ac:cxnSpMk id="26" creationId="{9BA7B692-BDCA-173C-A50A-3ABA0728FD6F}"/>
          </ac:cxnSpMkLst>
        </pc:cxnChg>
        <pc:cxnChg chg="add mod">
          <ac:chgData name="Sreenath KP" userId="6e33dbd69e7a919a" providerId="LiveId" clId="{D81BE0E1-E541-4C08-8D3C-ABFCDF32D542}" dt="2025-09-16T06:18:00.734" v="299" actId="1035"/>
          <ac:cxnSpMkLst>
            <pc:docMk/>
            <pc:sldMk cId="4197700178" sldId="257"/>
            <ac:cxnSpMk id="39" creationId="{ADB34456-7302-D81B-5CAD-9E9FE4B9A983}"/>
          </ac:cxnSpMkLst>
        </pc:cxnChg>
        <pc:cxnChg chg="add mod">
          <ac:chgData name="Sreenath KP" userId="6e33dbd69e7a919a" providerId="LiveId" clId="{D81BE0E1-E541-4C08-8D3C-ABFCDF32D542}" dt="2025-09-16T06:17:55.426" v="276" actId="1038"/>
          <ac:cxnSpMkLst>
            <pc:docMk/>
            <pc:sldMk cId="4197700178" sldId="257"/>
            <ac:cxnSpMk id="42" creationId="{42B23E4D-6F7F-0BB6-CC13-41B4960D5270}"/>
          </ac:cxnSpMkLst>
        </pc:cxnChg>
        <pc:cxnChg chg="add mod">
          <ac:chgData name="Sreenath KP" userId="6e33dbd69e7a919a" providerId="LiveId" clId="{D81BE0E1-E541-4C08-8D3C-ABFCDF32D542}" dt="2025-09-16T06:20:23.744" v="334" actId="1076"/>
          <ac:cxnSpMkLst>
            <pc:docMk/>
            <pc:sldMk cId="4197700178" sldId="257"/>
            <ac:cxnSpMk id="48" creationId="{AF6C8EED-BFBE-1459-CD04-71781F97FE45}"/>
          </ac:cxnSpMkLst>
        </pc:cxnChg>
      </pc:sldChg>
      <pc:sldChg chg="addSp modSp mod">
        <pc:chgData name="Sreenath KP" userId="6e33dbd69e7a919a" providerId="LiveId" clId="{D81BE0E1-E541-4C08-8D3C-ABFCDF32D542}" dt="2025-09-16T06:04:06.595" v="177" actId="108"/>
        <pc:sldMkLst>
          <pc:docMk/>
          <pc:sldMk cId="1544855522" sldId="261"/>
        </pc:sldMkLst>
        <pc:spChg chg="add mod">
          <ac:chgData name="Sreenath KP" userId="6e33dbd69e7a919a" providerId="LiveId" clId="{D81BE0E1-E541-4C08-8D3C-ABFCDF32D542}" dt="2025-09-16T06:01:12.764" v="49" actId="207"/>
          <ac:spMkLst>
            <pc:docMk/>
            <pc:sldMk cId="1544855522" sldId="261"/>
            <ac:spMk id="2" creationId="{10A01375-03E3-CAAC-53AD-5C3209E7971D}"/>
          </ac:spMkLst>
        </pc:spChg>
        <pc:spChg chg="add mod">
          <ac:chgData name="Sreenath KP" userId="6e33dbd69e7a919a" providerId="LiveId" clId="{D81BE0E1-E541-4C08-8D3C-ABFCDF32D542}" dt="2025-09-16T06:01:52.498" v="151" actId="1037"/>
          <ac:spMkLst>
            <pc:docMk/>
            <pc:sldMk cId="1544855522" sldId="261"/>
            <ac:spMk id="3" creationId="{78E86834-EFBD-1FC9-36A6-45B46EC9AE11}"/>
          </ac:spMkLst>
        </pc:spChg>
        <pc:spChg chg="mod">
          <ac:chgData name="Sreenath KP" userId="6e33dbd69e7a919a" providerId="LiveId" clId="{D81BE0E1-E541-4C08-8D3C-ABFCDF32D542}" dt="2025-09-16T06:03:27.978" v="167" actId="108"/>
          <ac:spMkLst>
            <pc:docMk/>
            <pc:sldMk cId="1544855522" sldId="261"/>
            <ac:spMk id="12" creationId="{3BD867F8-E087-84BB-64DC-5946BED43416}"/>
          </ac:spMkLst>
        </pc:spChg>
        <pc:spChg chg="mod">
          <ac:chgData name="Sreenath KP" userId="6e33dbd69e7a919a" providerId="LiveId" clId="{D81BE0E1-E541-4C08-8D3C-ABFCDF32D542}" dt="2025-09-16T06:03:30.240" v="168" actId="108"/>
          <ac:spMkLst>
            <pc:docMk/>
            <pc:sldMk cId="1544855522" sldId="261"/>
            <ac:spMk id="16" creationId="{E582E8A0-9D31-C6C1-FD56-CF4E0A8266B6}"/>
          </ac:spMkLst>
        </pc:spChg>
        <pc:spChg chg="mod">
          <ac:chgData name="Sreenath KP" userId="6e33dbd69e7a919a" providerId="LiveId" clId="{D81BE0E1-E541-4C08-8D3C-ABFCDF32D542}" dt="2025-09-16T06:03:31.266" v="169" actId="108"/>
          <ac:spMkLst>
            <pc:docMk/>
            <pc:sldMk cId="1544855522" sldId="261"/>
            <ac:spMk id="18" creationId="{80C494AF-EB2C-E827-5344-405794D205B0}"/>
          </ac:spMkLst>
        </pc:spChg>
        <pc:spChg chg="mod">
          <ac:chgData name="Sreenath KP" userId="6e33dbd69e7a919a" providerId="LiveId" clId="{D81BE0E1-E541-4C08-8D3C-ABFCDF32D542}" dt="2025-09-16T06:03:32.109" v="170" actId="108"/>
          <ac:spMkLst>
            <pc:docMk/>
            <pc:sldMk cId="1544855522" sldId="261"/>
            <ac:spMk id="20" creationId="{44B68804-C6DE-3490-4702-2AA0F1E1925F}"/>
          </ac:spMkLst>
        </pc:spChg>
        <pc:spChg chg="mod">
          <ac:chgData name="Sreenath KP" userId="6e33dbd69e7a919a" providerId="LiveId" clId="{D81BE0E1-E541-4C08-8D3C-ABFCDF32D542}" dt="2025-09-16T06:04:06.595" v="177" actId="108"/>
          <ac:spMkLst>
            <pc:docMk/>
            <pc:sldMk cId="1544855522" sldId="261"/>
            <ac:spMk id="22" creationId="{1ECC6524-D27C-3A85-390D-6346CAE9F33B}"/>
          </ac:spMkLst>
        </pc:spChg>
        <pc:spChg chg="mod">
          <ac:chgData name="Sreenath KP" userId="6e33dbd69e7a919a" providerId="LiveId" clId="{D81BE0E1-E541-4C08-8D3C-ABFCDF32D542}" dt="2025-09-16T06:03:59.784" v="176" actId="692"/>
          <ac:spMkLst>
            <pc:docMk/>
            <pc:sldMk cId="1544855522" sldId="261"/>
            <ac:spMk id="24" creationId="{262F4DD8-4568-EA85-989B-8E01CBB2B1A7}"/>
          </ac:spMkLst>
        </pc:spChg>
        <pc:spChg chg="mod">
          <ac:chgData name="Sreenath KP" userId="6e33dbd69e7a919a" providerId="LiveId" clId="{D81BE0E1-E541-4C08-8D3C-ABFCDF32D542}" dt="2025-09-16T06:03:22.901" v="166" actId="14100"/>
          <ac:spMkLst>
            <pc:docMk/>
            <pc:sldMk cId="1544855522" sldId="261"/>
            <ac:spMk id="26" creationId="{E7EC4BF9-9C76-9FF5-F896-3289172FC449}"/>
          </ac:spMkLst>
        </pc:spChg>
        <pc:spChg chg="mod">
          <ac:chgData name="Sreenath KP" userId="6e33dbd69e7a919a" providerId="LiveId" clId="{D81BE0E1-E541-4C08-8D3C-ABFCDF32D542}" dt="2025-09-16T05:59:41.448" v="19" actId="692"/>
          <ac:spMkLst>
            <pc:docMk/>
            <pc:sldMk cId="1544855522" sldId="261"/>
            <ac:spMk id="33" creationId="{88FA8A66-2685-155E-BE2D-CC824DF57BFE}"/>
          </ac:spMkLst>
        </pc:spChg>
        <pc:spChg chg="mod">
          <ac:chgData name="Sreenath KP" userId="6e33dbd69e7a919a" providerId="LiveId" clId="{D81BE0E1-E541-4C08-8D3C-ABFCDF32D542}" dt="2025-09-16T06:02:10.392" v="156" actId="108"/>
          <ac:spMkLst>
            <pc:docMk/>
            <pc:sldMk cId="1544855522" sldId="261"/>
            <ac:spMk id="37" creationId="{AC975B65-7552-2F30-F3C1-6F8FC58E0024}"/>
          </ac:spMkLst>
        </pc:spChg>
        <pc:spChg chg="mod">
          <ac:chgData name="Sreenath KP" userId="6e33dbd69e7a919a" providerId="LiveId" clId="{D81BE0E1-E541-4C08-8D3C-ABFCDF32D542}" dt="2025-09-16T06:01:58.170" v="152" actId="108"/>
          <ac:spMkLst>
            <pc:docMk/>
            <pc:sldMk cId="1544855522" sldId="261"/>
            <ac:spMk id="41" creationId="{21900E15-7B98-B663-D684-D8015AE6D50C}"/>
          </ac:spMkLst>
        </pc:spChg>
        <pc:spChg chg="mod">
          <ac:chgData name="Sreenath KP" userId="6e33dbd69e7a919a" providerId="LiveId" clId="{D81BE0E1-E541-4C08-8D3C-ABFCDF32D542}" dt="2025-09-16T06:02:11.279" v="157" actId="108"/>
          <ac:spMkLst>
            <pc:docMk/>
            <pc:sldMk cId="1544855522" sldId="261"/>
            <ac:spMk id="45" creationId="{988C144E-459D-5EFF-CC65-946FFC081128}"/>
          </ac:spMkLst>
        </pc:spChg>
        <pc:spChg chg="mod">
          <ac:chgData name="Sreenath KP" userId="6e33dbd69e7a919a" providerId="LiveId" clId="{D81BE0E1-E541-4C08-8D3C-ABFCDF32D542}" dt="2025-09-16T06:02:08.109" v="155" actId="108"/>
          <ac:spMkLst>
            <pc:docMk/>
            <pc:sldMk cId="1544855522" sldId="261"/>
            <ac:spMk id="50" creationId="{1AA74487-BD0C-AAC4-FF3D-2BAE75455067}"/>
          </ac:spMkLst>
        </pc:spChg>
        <pc:spChg chg="mod">
          <ac:chgData name="Sreenath KP" userId="6e33dbd69e7a919a" providerId="LiveId" clId="{D81BE0E1-E541-4C08-8D3C-ABFCDF32D542}" dt="2025-09-16T06:03:44.937" v="173" actId="692"/>
          <ac:spMkLst>
            <pc:docMk/>
            <pc:sldMk cId="1544855522" sldId="261"/>
            <ac:spMk id="54" creationId="{6ABD1D6C-2679-139E-94EF-0F5CD571146F}"/>
          </ac:spMkLst>
        </pc:spChg>
        <pc:spChg chg="mod">
          <ac:chgData name="Sreenath KP" userId="6e33dbd69e7a919a" providerId="LiveId" clId="{D81BE0E1-E541-4C08-8D3C-ABFCDF32D542}" dt="2025-09-16T06:03:49.992" v="174" actId="108"/>
          <ac:spMkLst>
            <pc:docMk/>
            <pc:sldMk cId="1544855522" sldId="261"/>
            <ac:spMk id="59" creationId="{C1B096A0-0EF2-5F9F-C4EF-369BA716CB92}"/>
          </ac:spMkLst>
        </pc:spChg>
        <pc:cxnChg chg="mod">
          <ac:chgData name="Sreenath KP" userId="6e33dbd69e7a919a" providerId="LiveId" clId="{D81BE0E1-E541-4C08-8D3C-ABFCDF32D542}" dt="2025-09-16T06:03:22.901" v="166" actId="14100"/>
          <ac:cxnSpMkLst>
            <pc:docMk/>
            <pc:sldMk cId="1544855522" sldId="261"/>
            <ac:cxnSpMk id="34" creationId="{22F522E4-D29B-D683-3474-1E4DF3CE34A0}"/>
          </ac:cxnSpMkLst>
        </pc:cxnChg>
        <pc:cxnChg chg="mod">
          <ac:chgData name="Sreenath KP" userId="6e33dbd69e7a919a" providerId="LiveId" clId="{D81BE0E1-E541-4C08-8D3C-ABFCDF32D542}" dt="2025-09-16T06:01:21.395" v="89" actId="1036"/>
          <ac:cxnSpMkLst>
            <pc:docMk/>
            <pc:sldMk cId="1544855522" sldId="261"/>
            <ac:cxnSpMk id="60" creationId="{867DD215-5006-838F-F332-7BDDB5A16DB9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F10F04-D132-4AA8-B90C-C815C6D301E6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4383BE-A3A0-4E55-983C-C7C622B721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4529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6A39B-60C5-FCA4-E043-F19EB674A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B7A5-BC7D-EC03-AD57-C74EA1D903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0681DF-8ACE-DD10-F953-91269F9D4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13676-23E9-4B1E-AC61-0532ACEC063A}" type="datetime1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03C21-80FD-4F7F-C12C-267C805DF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2025. SMAP Technologies. Confidential.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46EAE-178C-556E-B222-7F870E9C6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25039-CB59-4FD7-AEFA-00A64FB96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7778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FC74D-B278-483C-FA79-F400FD94D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C210F-7B8B-A967-F98D-E065C5032A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4769B-9005-9D06-12FB-BCF08BBC4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C473A-6608-4914-B1BB-511845187DCE}" type="datetime1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71409-B0F2-0ED8-49D8-DA78BC9C0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2025. SMAP Technologies. Confidential.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68570-2B9C-4931-60B3-06AEECD29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25039-CB59-4FD7-AEFA-00A64FB96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1851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29757-FCF2-FD55-7DCB-F8EA9724C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D2B7D6-B782-FE36-ABE6-8CE2D08F00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35241-6FF7-603F-EBC5-8E4FA23BD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BB4E9-4B1C-4656-B855-C73598D06034}" type="datetime1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A48B6-3B43-D48E-0C8E-860C11CF8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2025. SMAP Technologies. Confidential.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A7DF3-4CFE-5E76-841F-799F5D270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25039-CB59-4FD7-AEFA-00A64FB96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5336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D0567-FAA5-71E7-64B8-9D0D467B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4612C-497D-BC17-7B54-3D2B20740E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180FB8-E8D5-11D4-6D6D-537A751EC1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1D9AEE-3E67-9B6D-0A76-EDC586730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DAFD7-2143-4A8C-A8EB-F9159D72C340}" type="datetime1">
              <a:rPr lang="en-IN" smtClean="0"/>
              <a:t>22-09-2025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793B3A-6EE9-1036-5825-9BDA8E97A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2025. SMAP Technologies. Confidential.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363D37-0E6E-59F5-39DF-2CFA4F279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25039-CB59-4FD7-AEFA-00A64FB96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9411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D2FB6-702E-E164-92D6-EE9F6C675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EF632-811D-FF65-BAE5-C4A1ABCB7B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EDF10-9A68-3E5E-C78C-57F9B464E8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160061-37B0-59EC-78CB-3CA3642334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A53345-8279-61AA-26CE-C87D2E0ADB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082C1A-ED8D-9ED3-B9D1-0DC16D3D7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C2B79-6162-4283-BD6E-8A78F214462A}" type="datetime1">
              <a:rPr lang="en-IN" smtClean="0"/>
              <a:t>22-09-2025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607ABD-DF71-6529-331A-DD83561D7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2025. SMAP Technologies. Confidential.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811369-8028-3D13-1C06-D08132421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25039-CB59-4FD7-AEFA-00A64FB96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2613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CD815-DF02-7B8D-B05B-F6D905377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3F22FB-8B52-9F43-629D-5542320BE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3421E-652C-4F64-9ABE-191BDA242FD2}" type="datetime1">
              <a:rPr lang="en-IN" smtClean="0"/>
              <a:t>22-09-2025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DE146F-FFDE-4BB3-286E-0C2E82D9E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2025. SMAP Technologies. Confidential.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3FB6CA-2B1C-5EAC-C95E-B9E5B9609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25039-CB59-4FD7-AEFA-00A64FB96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4212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4825C2-232A-C1CA-92DF-BD0DC4355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3947A-487A-4447-BCF3-97D3A0E31CD4}" type="datetime1">
              <a:rPr lang="en-IN" smtClean="0"/>
              <a:t>22-09-2025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97780A-6DF7-9264-F5A5-C6CF22D09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2025. SMAP Technologies. Confidential.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E2F7E-2B4D-1FCE-6169-C09A9F325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25039-CB59-4FD7-AEFA-00A64FB96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1121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2EF05-B3A7-7802-DEC5-1914791AA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D6A7F-A206-3A98-3065-E6B736005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BF2586-D91A-423C-B954-EDBBD41625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62044A-E7B3-EF13-B3F5-5936CE57C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35A72-9CB9-4204-BF53-0CF6AE4E9AE7}" type="datetime1">
              <a:rPr lang="en-IN" smtClean="0"/>
              <a:t>22-09-2025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44359C-6628-4EC0-9C1E-8E853A81A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2025. SMAP Technologies. Confidential.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5232A3-DA5F-2CA9-9F2B-80320D5A7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25039-CB59-4FD7-AEFA-00A64FB96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145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06D1A-CCD7-51F5-3C67-174EDD8D8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A7CDEC-E87F-0EA5-B04A-DBF8E05867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976794-BF8A-83B5-F414-30892FA2F1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BA4D90-265B-7B2C-EB91-0F4969A0F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42647-BD17-4EBA-84AD-B5E3CB3A5818}" type="datetime1">
              <a:rPr lang="en-IN" smtClean="0"/>
              <a:t>22-09-2025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25DAA1-57F2-88AD-F9FE-3EBAB5915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2025. SMAP Technologies. Confidential.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5A3C2-4DC7-A84F-CE1A-59A33FE4A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25039-CB59-4FD7-AEFA-00A64FB96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4417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9DE6E-9B65-155E-81D8-BB328154C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5C8688-A6ED-A90A-6BEB-EF0AF02B55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2B78B2-3759-92EB-7AB2-3269B75F4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FF529-527F-4166-85F0-8DCF4EE14ABA}" type="datetime1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2AFEE-70DE-7787-E2BE-46556FCAB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2025. SMAP Technologies. Confidential.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EB21E-C9F1-6BFC-B465-068F84B34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25039-CB59-4FD7-AEFA-00A64FB96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5839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899347-51E9-B3AD-5C50-22EB3452D8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188522-E041-451C-FA64-31090AD867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5B3AF-9936-AC34-F25F-5FF12C594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CB556-1D2B-487F-BBC5-11C85170E9B1}" type="datetime1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71739D-F094-1F28-A524-19FE6BCF8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2025. SMAP Technologies. Confidential.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2789F-865C-54D3-D9C1-8D502F783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25039-CB59-4FD7-AEFA-00A64FB96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9720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61AF1D-64AE-243A-8FA3-6AF4CB054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96FABB-36A8-ED73-54BA-C0C5212F0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747000-9D44-B76E-1CA4-328972AEAB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D1C657-8E2C-43E3-89AD-95BD430CF98F}" type="datetime1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81A0A-8D72-1011-D172-CF92E42814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2025. SMAP Technologies. Confidential.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3748C-3DB5-1B26-9C9F-A502D302D6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D25039-CB59-4FD7-AEFA-00A64FB96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3598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0F982-5214-AB28-FAF3-DFA7C8F3AF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Project </a:t>
            </a:r>
            <a:r>
              <a:rPr lang="en-IN" b="1" dirty="0"/>
              <a:t>Iris </a:t>
            </a:r>
            <a:r>
              <a:rPr lang="en-IN" dirty="0"/>
              <a:t>(code name)</a:t>
            </a:r>
          </a:p>
          <a:p>
            <a:pPr marL="0" indent="0">
              <a:buNone/>
            </a:pPr>
            <a:r>
              <a:rPr lang="en-IN" sz="2400" b="1" dirty="0"/>
              <a:t>Software Architecture and Design Document</a:t>
            </a:r>
          </a:p>
          <a:p>
            <a:pPr marL="0" indent="0">
              <a:buNone/>
            </a:pPr>
            <a:r>
              <a:rPr lang="en-IN" sz="1800" dirty="0"/>
              <a:t>V1.0 (initial Draft)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026774-65A0-9DA4-6FD2-3E6EF247E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2025. SMAP Technologies. Confidential.</a:t>
            </a:r>
          </a:p>
        </p:txBody>
      </p:sp>
    </p:spTree>
    <p:extLst>
      <p:ext uri="{BB962C8B-B14F-4D97-AF65-F5344CB8AC3E}">
        <p14:creationId xmlns:p14="http://schemas.microsoft.com/office/powerpoint/2010/main" val="3375237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C2057-FBE0-9BED-CDE2-1C8ED089B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026C3C5-3652-6416-37B4-C1080D649A4F}"/>
              </a:ext>
            </a:extLst>
          </p:cNvPr>
          <p:cNvSpPr/>
          <p:nvPr/>
        </p:nvSpPr>
        <p:spPr>
          <a:xfrm>
            <a:off x="1407452" y="2676229"/>
            <a:ext cx="928254" cy="7639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800" dirty="0"/>
              <a:t>Camera read workers (RTSP grabber)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89DB4B1-9E3E-797E-3731-4A0C2FF0A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800"/>
              <a:t>2025. SMAP Technologies. Confidential.</a:t>
            </a:r>
            <a:endParaRPr lang="en-IN" sz="8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359B8F-2BDE-2425-2834-061E3FE2D5C5}"/>
              </a:ext>
            </a:extLst>
          </p:cNvPr>
          <p:cNvSpPr/>
          <p:nvPr/>
        </p:nvSpPr>
        <p:spPr>
          <a:xfrm>
            <a:off x="170330" y="2862247"/>
            <a:ext cx="645458" cy="3919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800" dirty="0"/>
              <a:t>Camera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49E231-3DA0-F6E5-39D1-F353C9C7327D}"/>
              </a:ext>
            </a:extLst>
          </p:cNvPr>
          <p:cNvSpPr/>
          <p:nvPr/>
        </p:nvSpPr>
        <p:spPr>
          <a:xfrm>
            <a:off x="3142129" y="2676229"/>
            <a:ext cx="928254" cy="7639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800" dirty="0"/>
              <a:t>Detector workers (box + score)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F0478C3-8857-F89E-B839-9A533C336355}"/>
              </a:ext>
            </a:extLst>
          </p:cNvPr>
          <p:cNvCxnSpPr>
            <a:stCxn id="9" idx="3"/>
            <a:endCxn id="6" idx="1"/>
          </p:cNvCxnSpPr>
          <p:nvPr/>
        </p:nvCxnSpPr>
        <p:spPr>
          <a:xfrm flipV="1">
            <a:off x="815788" y="3058217"/>
            <a:ext cx="59166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3E740B99-9534-7715-6DCD-D0FF008A822F}"/>
              </a:ext>
            </a:extLst>
          </p:cNvPr>
          <p:cNvSpPr txBox="1"/>
          <p:nvPr/>
        </p:nvSpPr>
        <p:spPr>
          <a:xfrm>
            <a:off x="860521" y="2842002"/>
            <a:ext cx="47481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00" dirty="0"/>
              <a:t>frames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011179E-E950-DB6C-2293-1EAEFAEE0D9B}"/>
              </a:ext>
            </a:extLst>
          </p:cNvPr>
          <p:cNvCxnSpPr>
            <a:stCxn id="6" idx="3"/>
            <a:endCxn id="11" idx="1"/>
          </p:cNvCxnSpPr>
          <p:nvPr/>
        </p:nvCxnSpPr>
        <p:spPr>
          <a:xfrm>
            <a:off x="2335706" y="3058217"/>
            <a:ext cx="8064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F5F02E04-4734-16F1-F050-87AF633ABFFC}"/>
              </a:ext>
            </a:extLst>
          </p:cNvPr>
          <p:cNvSpPr txBox="1"/>
          <p:nvPr/>
        </p:nvSpPr>
        <p:spPr>
          <a:xfrm>
            <a:off x="2339732" y="2842002"/>
            <a:ext cx="72327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00" dirty="0"/>
              <a:t>frame queue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DCED51C-2C8A-86DD-CD0C-A7201D1D6B6C}"/>
              </a:ext>
            </a:extLst>
          </p:cNvPr>
          <p:cNvSpPr/>
          <p:nvPr/>
        </p:nvSpPr>
        <p:spPr>
          <a:xfrm>
            <a:off x="4397186" y="2676229"/>
            <a:ext cx="928254" cy="7639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800" dirty="0"/>
              <a:t>Face tracker (per camera)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F1DF16C-BA02-72DB-79DA-28C7E7425516}"/>
              </a:ext>
            </a:extLst>
          </p:cNvPr>
          <p:cNvSpPr/>
          <p:nvPr/>
        </p:nvSpPr>
        <p:spPr>
          <a:xfrm>
            <a:off x="6055662" y="2676229"/>
            <a:ext cx="928254" cy="7639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800" dirty="0"/>
              <a:t>Crop extractor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19998FF-8F4A-6634-DE67-C6EDE575FFB7}"/>
              </a:ext>
            </a:extLst>
          </p:cNvPr>
          <p:cNvSpPr/>
          <p:nvPr/>
        </p:nvSpPr>
        <p:spPr>
          <a:xfrm>
            <a:off x="7812747" y="2676229"/>
            <a:ext cx="928254" cy="7639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800" dirty="0"/>
              <a:t>Recognition worker pool (batching/process)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F8F6D33-C227-59EE-FC9B-6B2FBE885E8F}"/>
              </a:ext>
            </a:extLst>
          </p:cNvPr>
          <p:cNvCxnSpPr>
            <a:stCxn id="11" idx="3"/>
            <a:endCxn id="43" idx="1"/>
          </p:cNvCxnSpPr>
          <p:nvPr/>
        </p:nvCxnSpPr>
        <p:spPr>
          <a:xfrm>
            <a:off x="4070383" y="3058217"/>
            <a:ext cx="3268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347CC43-4769-423A-0CB6-442143E7B8DC}"/>
              </a:ext>
            </a:extLst>
          </p:cNvPr>
          <p:cNvCxnSpPr>
            <a:stCxn id="43" idx="3"/>
            <a:endCxn id="44" idx="1"/>
          </p:cNvCxnSpPr>
          <p:nvPr/>
        </p:nvCxnSpPr>
        <p:spPr>
          <a:xfrm>
            <a:off x="5325440" y="3058217"/>
            <a:ext cx="7302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2CC77754-8598-FDC4-FCF6-46B499B99B01}"/>
              </a:ext>
            </a:extLst>
          </p:cNvPr>
          <p:cNvCxnSpPr>
            <a:stCxn id="44" idx="3"/>
            <a:endCxn id="47" idx="1"/>
          </p:cNvCxnSpPr>
          <p:nvPr/>
        </p:nvCxnSpPr>
        <p:spPr>
          <a:xfrm>
            <a:off x="6983916" y="3058217"/>
            <a:ext cx="8288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C1F0C4A0-376F-5224-7EF6-CACECD233FEA}"/>
              </a:ext>
            </a:extLst>
          </p:cNvPr>
          <p:cNvSpPr txBox="1"/>
          <p:nvPr/>
        </p:nvSpPr>
        <p:spPr>
          <a:xfrm>
            <a:off x="5291242" y="2842002"/>
            <a:ext cx="7986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00" dirty="0"/>
              <a:t>Tracked object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77EC524-A918-FA7E-5A93-8729B4A5598E}"/>
              </a:ext>
            </a:extLst>
          </p:cNvPr>
          <p:cNvSpPr txBox="1"/>
          <p:nvPr/>
        </p:nvSpPr>
        <p:spPr>
          <a:xfrm>
            <a:off x="5325440" y="3066410"/>
            <a:ext cx="7793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00" dirty="0" err="1"/>
              <a:t>track_id</a:t>
            </a:r>
            <a:r>
              <a:rPr lang="en-IN" sz="800" dirty="0"/>
              <a:t>, </a:t>
            </a:r>
            <a:r>
              <a:rPr lang="en-IN" sz="800" dirty="0" err="1"/>
              <a:t>bbox</a:t>
            </a:r>
            <a:endParaRPr lang="en-IN" sz="8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D99EA91-3CAA-62F3-D959-0E1E3F5EBA25}"/>
              </a:ext>
            </a:extLst>
          </p:cNvPr>
          <p:cNvSpPr txBox="1"/>
          <p:nvPr/>
        </p:nvSpPr>
        <p:spPr>
          <a:xfrm>
            <a:off x="6915377" y="2842002"/>
            <a:ext cx="97174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00" dirty="0"/>
              <a:t>Recognition queue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AAE5195D-9CFC-FD1D-16FE-FFD90EE5DD9F}"/>
              </a:ext>
            </a:extLst>
          </p:cNvPr>
          <p:cNvSpPr/>
          <p:nvPr/>
        </p:nvSpPr>
        <p:spPr>
          <a:xfrm>
            <a:off x="9372610" y="2676229"/>
            <a:ext cx="928254" cy="7639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800" dirty="0"/>
              <a:t>Liveness worker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F0FAF4E-8BB3-378A-91EB-00FB5BEBF7F4}"/>
              </a:ext>
            </a:extLst>
          </p:cNvPr>
          <p:cNvCxnSpPr>
            <a:stCxn id="47" idx="3"/>
            <a:endCxn id="69" idx="1"/>
          </p:cNvCxnSpPr>
          <p:nvPr/>
        </p:nvCxnSpPr>
        <p:spPr>
          <a:xfrm>
            <a:off x="8741001" y="3058217"/>
            <a:ext cx="6316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DF692B8C-0738-6BFA-81FD-992763D3470E}"/>
              </a:ext>
            </a:extLst>
          </p:cNvPr>
          <p:cNvSpPr txBox="1"/>
          <p:nvPr/>
        </p:nvSpPr>
        <p:spPr>
          <a:xfrm>
            <a:off x="8712636" y="2842629"/>
            <a:ext cx="59984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00" dirty="0"/>
              <a:t>candidate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69DE2D9-8CE2-B76A-57BC-CACC66413946}"/>
              </a:ext>
            </a:extLst>
          </p:cNvPr>
          <p:cNvSpPr txBox="1"/>
          <p:nvPr/>
        </p:nvSpPr>
        <p:spPr>
          <a:xfrm>
            <a:off x="8726819" y="3066411"/>
            <a:ext cx="44755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00" dirty="0"/>
              <a:t>match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068E26C-8081-83FB-E092-F496842D3AE9}"/>
              </a:ext>
            </a:extLst>
          </p:cNvPr>
          <p:cNvSpPr/>
          <p:nvPr/>
        </p:nvSpPr>
        <p:spPr>
          <a:xfrm>
            <a:off x="10784548" y="2676229"/>
            <a:ext cx="928254" cy="7639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800" dirty="0"/>
              <a:t>Policy engine (OPA)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8E33AD1-E041-33E7-61D0-324E30B537B2}"/>
              </a:ext>
            </a:extLst>
          </p:cNvPr>
          <p:cNvSpPr/>
          <p:nvPr/>
        </p:nvSpPr>
        <p:spPr>
          <a:xfrm>
            <a:off x="10784548" y="3859570"/>
            <a:ext cx="928254" cy="7639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800" dirty="0"/>
              <a:t>Attendance Service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A3EC79E0-80A8-10BB-962A-846CC1B0C79F}"/>
              </a:ext>
            </a:extLst>
          </p:cNvPr>
          <p:cNvCxnSpPr>
            <a:stCxn id="69" idx="3"/>
            <a:endCxn id="74" idx="1"/>
          </p:cNvCxnSpPr>
          <p:nvPr/>
        </p:nvCxnSpPr>
        <p:spPr>
          <a:xfrm>
            <a:off x="10300864" y="3058217"/>
            <a:ext cx="4836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B4B7247D-13D5-A0DB-B979-7CE537F05C08}"/>
              </a:ext>
            </a:extLst>
          </p:cNvPr>
          <p:cNvCxnSpPr>
            <a:stCxn id="74" idx="2"/>
            <a:endCxn id="75" idx="0"/>
          </p:cNvCxnSpPr>
          <p:nvPr/>
        </p:nvCxnSpPr>
        <p:spPr>
          <a:xfrm>
            <a:off x="11248675" y="3440205"/>
            <a:ext cx="0" cy="4193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itle 1">
            <a:extLst>
              <a:ext uri="{FF2B5EF4-FFF2-40B4-BE49-F238E27FC236}">
                <a16:creationId xmlns:a16="http://schemas.microsoft.com/office/drawing/2014/main" id="{AB23798D-05EB-DC3D-BF28-1A0DFA2DB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6192"/>
          </a:xfrm>
        </p:spPr>
        <p:txBody>
          <a:bodyPr>
            <a:normAutofit/>
          </a:bodyPr>
          <a:lstStyle/>
          <a:p>
            <a:pPr algn="ctr"/>
            <a:r>
              <a:rPr lang="en-IN" sz="1600" b="1" dirty="0"/>
              <a:t>Runtime Architecture &amp; threading model </a:t>
            </a:r>
            <a:r>
              <a:rPr lang="en-IN" sz="1600" b="1" dirty="0">
                <a:sym typeface="Wingdings" panose="05000000000000000000" pitchFamily="2" charset="2"/>
              </a:rPr>
              <a:t> Pipeline</a:t>
            </a:r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4218136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277A96A-CF21-C88B-CCC1-0CDAE83CE1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1260" y="559408"/>
            <a:ext cx="8193669" cy="5462446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70A90F-B271-2178-63B4-788F82197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2025. SMAP Technologies. Confidential.</a:t>
            </a:r>
          </a:p>
        </p:txBody>
      </p:sp>
    </p:spTree>
    <p:extLst>
      <p:ext uri="{BB962C8B-B14F-4D97-AF65-F5344CB8AC3E}">
        <p14:creationId xmlns:p14="http://schemas.microsoft.com/office/powerpoint/2010/main" val="2868632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54F87-348A-946D-6FC3-6C51BA408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1"/>
          </a:xfrm>
        </p:spPr>
        <p:txBody>
          <a:bodyPr>
            <a:normAutofit/>
          </a:bodyPr>
          <a:lstStyle/>
          <a:p>
            <a:pPr algn="ctr"/>
            <a:r>
              <a:rPr lang="en-IN" sz="1600" b="1" dirty="0"/>
              <a:t>Process layout (processes)</a:t>
            </a:r>
            <a:endParaRPr lang="en-IN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975D42-9B50-FA0C-419D-2D55A1C9A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2025. SMAP Technologies. Confidential.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10A1B8C-9187-DF07-416E-33A12D7DD79D}"/>
              </a:ext>
            </a:extLst>
          </p:cNvPr>
          <p:cNvSpPr txBox="1">
            <a:spLocks/>
          </p:cNvSpPr>
          <p:nvPr/>
        </p:nvSpPr>
        <p:spPr>
          <a:xfrm>
            <a:off x="6369423" y="1075765"/>
            <a:ext cx="5141259" cy="51011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100" b="1" dirty="0"/>
              <a:t>Vector Index (FAISS)</a:t>
            </a:r>
            <a:r>
              <a:rPr lang="en-IN" sz="1100" dirty="0"/>
              <a:t> (shared in-memory or separate process)</a:t>
            </a:r>
          </a:p>
          <a:p>
            <a:pPr lvl="1"/>
            <a:r>
              <a:rPr lang="en-IN" sz="1100" dirty="0"/>
              <a:t>Exposes match API to recognition service.</a:t>
            </a:r>
          </a:p>
          <a:p>
            <a:r>
              <a:rPr lang="en-IN" sz="1100" b="1" dirty="0"/>
              <a:t>Liveness Service</a:t>
            </a:r>
            <a:r>
              <a:rPr lang="en-IN" sz="1100" dirty="0"/>
              <a:t> (process)</a:t>
            </a:r>
          </a:p>
          <a:p>
            <a:pPr lvl="1"/>
            <a:r>
              <a:rPr lang="en-IN" sz="1100" dirty="0"/>
              <a:t>lightweight model on CPU (fast).</a:t>
            </a:r>
          </a:p>
          <a:p>
            <a:pPr lvl="1"/>
            <a:r>
              <a:rPr lang="en-IN" sz="1100" dirty="0"/>
              <a:t>Called only for top candidates to conserve resources. - </a:t>
            </a:r>
            <a:r>
              <a:rPr lang="en-US" sz="1100" dirty="0"/>
              <a:t>restrict liveness checks to only </a:t>
            </a:r>
            <a:r>
              <a:rPr lang="en-US" sz="1100" i="1" dirty="0"/>
              <a:t>top-N matches</a:t>
            </a:r>
            <a:r>
              <a:rPr lang="en-US" sz="1100" dirty="0"/>
              <a:t> instead of every crop.</a:t>
            </a:r>
            <a:endParaRPr lang="en-IN" sz="1100" dirty="0"/>
          </a:p>
          <a:p>
            <a:r>
              <a:rPr lang="en-IN" sz="1100" b="1" dirty="0"/>
              <a:t>OPA Policy Engine</a:t>
            </a:r>
            <a:r>
              <a:rPr lang="en-IN" sz="1100" dirty="0"/>
              <a:t> (sidecar / service)</a:t>
            </a:r>
          </a:p>
          <a:p>
            <a:pPr lvl="1"/>
            <a:r>
              <a:rPr lang="en-IN" sz="1100" dirty="0"/>
              <a:t>Evaluate rules: deny/allow based on user status, time, blacklist, etc.</a:t>
            </a:r>
          </a:p>
          <a:p>
            <a:r>
              <a:rPr lang="en-IN" sz="1100" b="1" dirty="0"/>
              <a:t>Attendance Service (API + DB)</a:t>
            </a:r>
            <a:endParaRPr lang="en-IN" sz="1100" dirty="0"/>
          </a:p>
          <a:p>
            <a:pPr lvl="1"/>
            <a:r>
              <a:rPr lang="en-IN" sz="1100" dirty="0"/>
              <a:t>Writes attendance events, triggers alerts/logs.</a:t>
            </a:r>
          </a:p>
          <a:p>
            <a:r>
              <a:rPr lang="en-IN" sz="1100" b="1" dirty="0"/>
              <a:t>Logging &amp; Alerting Engine</a:t>
            </a:r>
            <a:endParaRPr lang="en-IN" sz="1100" dirty="0"/>
          </a:p>
          <a:p>
            <a:pPr lvl="1"/>
            <a:r>
              <a:rPr lang="en-IN" sz="1100" dirty="0"/>
              <a:t>Stores audit logs (append-only) and routes alerts to UIs/SMTP/SMS.</a:t>
            </a:r>
          </a:p>
          <a:p>
            <a:r>
              <a:rPr lang="en-IN" sz="1100" b="1" dirty="0"/>
              <a:t>Redis</a:t>
            </a:r>
            <a:endParaRPr lang="en-IN" sz="1100" dirty="0"/>
          </a:p>
          <a:p>
            <a:pPr lvl="1"/>
            <a:r>
              <a:rPr lang="en-IN" sz="1100" dirty="0"/>
              <a:t>Cache, short-term dedupe store, counters, feature flags, retry queues.</a:t>
            </a:r>
          </a:p>
          <a:p>
            <a:endParaRPr lang="en-IN" sz="1100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ECC9AD4-C57F-F11F-914E-3E88FB29EA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1318" y="1075765"/>
            <a:ext cx="5115503" cy="42662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en-US" altLang="en-US" sz="1100" b="1" dirty="0"/>
              <a:t>Stream </a:t>
            </a:r>
            <a:r>
              <a:rPr lang="en-US" altLang="en-US" sz="1100" b="1" dirty="0" err="1"/>
              <a:t>Ingestor</a:t>
            </a:r>
            <a:r>
              <a:rPr lang="en-US" altLang="en-US" sz="1100" b="1" dirty="0"/>
              <a:t> Manager</a:t>
            </a:r>
            <a:r>
              <a:rPr lang="en-US" altLang="en-US" sz="1100" dirty="0"/>
              <a:t> (process)</a:t>
            </a:r>
          </a:p>
          <a:p>
            <a:pPr lvl="1"/>
            <a:r>
              <a:rPr lang="en-US" altLang="en-US" sz="1100" dirty="0"/>
              <a:t>Spawns a lightweight RTSP grabber thread per channel.</a:t>
            </a:r>
          </a:p>
          <a:p>
            <a:pPr lvl="1"/>
            <a:r>
              <a:rPr lang="en-US" altLang="en-US" sz="1100" dirty="0"/>
              <a:t>Maintains per-channel frame queue (bounded).</a:t>
            </a:r>
          </a:p>
          <a:p>
            <a:pPr lvl="1"/>
            <a:r>
              <a:rPr lang="en-US" altLang="en-US" sz="1100" dirty="0"/>
              <a:t>Adjusts FPS throttle.</a:t>
            </a:r>
          </a:p>
          <a:p>
            <a:r>
              <a:rPr lang="en-US" altLang="en-US" sz="1100" b="1" dirty="0"/>
              <a:t>Detector Pool (process or </a:t>
            </a:r>
            <a:r>
              <a:rPr lang="en-US" altLang="en-US" sz="1100" b="1" dirty="0" err="1"/>
              <a:t>threadpool</a:t>
            </a:r>
            <a:r>
              <a:rPr lang="en-US" altLang="en-US" sz="1100" b="1" dirty="0"/>
              <a:t>)</a:t>
            </a:r>
          </a:p>
          <a:p>
            <a:pPr lvl="1"/>
            <a:r>
              <a:rPr lang="en-US" altLang="en-US" sz="1100" dirty="0"/>
              <a:t>Runs face detection model (CPU).</a:t>
            </a:r>
          </a:p>
          <a:p>
            <a:pPr lvl="1"/>
            <a:r>
              <a:rPr lang="en-IN" sz="1100" dirty="0"/>
              <a:t>(Haar cascades, MTCNN, </a:t>
            </a:r>
            <a:r>
              <a:rPr lang="en-IN" sz="1100" dirty="0" err="1"/>
              <a:t>BlazeFace</a:t>
            </a:r>
            <a:r>
              <a:rPr lang="en-IN" sz="1100" dirty="0"/>
              <a:t>, or </a:t>
            </a:r>
            <a:r>
              <a:rPr lang="en-IN" sz="1100" dirty="0" err="1"/>
              <a:t>MobileNet</a:t>
            </a:r>
            <a:r>
              <a:rPr lang="en-IN" sz="1100" dirty="0"/>
              <a:t>-SSD variants)</a:t>
            </a:r>
            <a:endParaRPr lang="en-US" altLang="en-US" sz="1100" dirty="0"/>
          </a:p>
          <a:p>
            <a:r>
              <a:rPr lang="en-US" altLang="en-US" sz="1100" b="1" dirty="0"/>
              <a:t>Per-Camera Tracker (in-process, single-threaded per camera)</a:t>
            </a:r>
          </a:p>
          <a:p>
            <a:pPr lvl="1"/>
            <a:r>
              <a:rPr lang="en-US" altLang="en-US" sz="1100" dirty="0"/>
              <a:t>Runs </a:t>
            </a:r>
            <a:r>
              <a:rPr lang="en-US" altLang="en-US" sz="1100" dirty="0" err="1"/>
              <a:t>ByteTrack</a:t>
            </a:r>
            <a:r>
              <a:rPr lang="en-US" altLang="en-US" sz="1100" dirty="0"/>
              <a:t>/</a:t>
            </a:r>
            <a:r>
              <a:rPr lang="en-US" altLang="en-US" sz="1100" dirty="0" err="1"/>
              <a:t>DeepSORT</a:t>
            </a:r>
            <a:r>
              <a:rPr lang="en-US" altLang="en-US" sz="1100" dirty="0"/>
              <a:t> logic using detection boxes.</a:t>
            </a:r>
          </a:p>
          <a:p>
            <a:pPr lvl="1"/>
            <a:r>
              <a:rPr lang="en-US" altLang="en-US" sz="1100" dirty="0"/>
              <a:t>Produces stable track IDs.</a:t>
            </a:r>
          </a:p>
          <a:p>
            <a:r>
              <a:rPr lang="en-US" altLang="en-US" sz="1100" b="1" dirty="0"/>
              <a:t>Recognition Service (embedding extraction) (process)</a:t>
            </a:r>
          </a:p>
          <a:p>
            <a:pPr lvl="1"/>
            <a:r>
              <a:rPr lang="en-IN" sz="1100" dirty="0" err="1"/>
              <a:t>ArcFace</a:t>
            </a:r>
            <a:r>
              <a:rPr lang="en-IN" sz="1100" dirty="0"/>
              <a:t>/FaceNet </a:t>
            </a:r>
            <a:r>
              <a:rPr lang="en-US" sz="1100" dirty="0"/>
              <a:t>with </a:t>
            </a:r>
            <a:r>
              <a:rPr lang="en-US" sz="1100" b="1" dirty="0"/>
              <a:t>ONNX Runtime (CPU EP)</a:t>
            </a:r>
            <a:r>
              <a:rPr lang="en-US" sz="1100" dirty="0"/>
              <a:t> or </a:t>
            </a:r>
            <a:r>
              <a:rPr lang="en-US" sz="1100" b="1" dirty="0" err="1"/>
              <a:t>OpenVINO</a:t>
            </a:r>
            <a:r>
              <a:rPr lang="en-US" sz="1100" dirty="0"/>
              <a:t>.</a:t>
            </a:r>
            <a:r>
              <a:rPr lang="en-US" altLang="en-US" sz="1100" dirty="0"/>
              <a:t>.</a:t>
            </a:r>
          </a:p>
          <a:p>
            <a:pPr lvl="1"/>
            <a:r>
              <a:rPr lang="en-US" sz="1100" dirty="0"/>
              <a:t>process one crop at a time.</a:t>
            </a:r>
          </a:p>
          <a:p>
            <a:pPr lvl="1"/>
            <a:r>
              <a:rPr lang="en-US" sz="1100" dirty="0"/>
              <a:t>Throughput: depending on model, </a:t>
            </a:r>
            <a:r>
              <a:rPr lang="en-US" sz="1100" b="1" dirty="0"/>
              <a:t>~10–30 embeddings/sec per CPU core</a:t>
            </a:r>
            <a:r>
              <a:rPr lang="en-US" sz="1100" dirty="0"/>
              <a:t> is typical.</a:t>
            </a:r>
            <a:endParaRPr lang="en-US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512168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20621-67D3-34B7-817E-0007D0DEA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1455C-2970-AA22-669C-A1E71FD67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1"/>
          </a:xfrm>
        </p:spPr>
        <p:txBody>
          <a:bodyPr>
            <a:normAutofit/>
          </a:bodyPr>
          <a:lstStyle/>
          <a:p>
            <a:pPr algn="ctr"/>
            <a:r>
              <a:rPr lang="en-IN" sz="1600" b="1" dirty="0"/>
              <a:t>Concurrency model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AEEA53-6EA0-1C3D-1F74-33E26201A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2025. SMAP Technologies. Confidential.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97A6AB9-DFEB-5415-3083-D61A8C7C72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977" y="1447357"/>
            <a:ext cx="9066906" cy="13808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en-US" altLang="en-US" sz="1100" b="1" dirty="0"/>
              <a:t>RTSP Grabber</a:t>
            </a:r>
            <a:r>
              <a:rPr lang="en-US" altLang="en-US" sz="1100" dirty="0"/>
              <a:t>: 1 goroutine/thread per RTSP channel — minimal work, only decoding + pushing frames into queue.</a:t>
            </a:r>
          </a:p>
          <a:p>
            <a:r>
              <a:rPr lang="en-US" altLang="en-US" sz="1100" b="1" dirty="0"/>
              <a:t>Detector workers</a:t>
            </a:r>
            <a:r>
              <a:rPr lang="en-US" altLang="en-US" sz="1100" dirty="0"/>
              <a:t>: N CPU threads; size depends on CPU capacity. Non-blocking: We will use worker pools.</a:t>
            </a:r>
          </a:p>
          <a:p>
            <a:r>
              <a:rPr lang="en-US" altLang="en-US" sz="1100" b="1" dirty="0"/>
              <a:t>Tracker</a:t>
            </a:r>
            <a:r>
              <a:rPr lang="en-US" altLang="en-US" sz="1100" dirty="0"/>
              <a:t>: 1 per camera, single-threaded to simplify state. It consumes detections and emits events.</a:t>
            </a:r>
          </a:p>
          <a:p>
            <a:r>
              <a:rPr lang="en-US" altLang="en-US" sz="1100" b="1" dirty="0"/>
              <a:t>Recognition</a:t>
            </a:r>
            <a:r>
              <a:rPr lang="en-US" altLang="en-US" sz="1100" dirty="0"/>
              <a:t>: a bounded GPU worker pool (e.g., 1 worker per GPU) that supports batching. Use a small async queue and a timeout to trigger a batch.</a:t>
            </a:r>
          </a:p>
          <a:p>
            <a:r>
              <a:rPr lang="en-US" altLang="en-US" sz="1100" b="1" dirty="0"/>
              <a:t>Policy/Liveness</a:t>
            </a:r>
            <a:r>
              <a:rPr lang="en-US" altLang="en-US" sz="1100" dirty="0"/>
              <a:t>: separate pools to avoid blocking recognition pipeline.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E2BBF5-D2C9-DB95-71C7-1CC8D2232361}"/>
              </a:ext>
            </a:extLst>
          </p:cNvPr>
          <p:cNvSpPr txBox="1"/>
          <p:nvPr/>
        </p:nvSpPr>
        <p:spPr>
          <a:xfrm>
            <a:off x="640976" y="3054977"/>
            <a:ext cx="9193305" cy="22073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100" b="1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indent="0">
              <a:buNone/>
            </a:pPr>
            <a:r>
              <a:rPr lang="en-US" b="0" dirty="0"/>
              <a:t>Resource scheduling</a:t>
            </a:r>
          </a:p>
          <a:p>
            <a:r>
              <a:rPr lang="en-US" dirty="0"/>
              <a:t>Each RTSP decode</a:t>
            </a:r>
            <a:r>
              <a:rPr lang="en-US" b="0" dirty="0"/>
              <a:t>: ~small CPU usage; each 1080p (can go to 720p/480p) stream may require ~0.5–1 vCPU to decode (estimate varies).</a:t>
            </a:r>
          </a:p>
          <a:p>
            <a:r>
              <a:rPr lang="en-US" dirty="0"/>
              <a:t>Detector</a:t>
            </a:r>
            <a:r>
              <a:rPr lang="en-US" b="0" dirty="0"/>
              <a:t>: on CPU might handle ~5–10 FPS per core with light detectors.</a:t>
            </a:r>
          </a:p>
          <a:p>
            <a:r>
              <a:rPr lang="en-US" dirty="0"/>
              <a:t>Recognition GPU</a:t>
            </a:r>
            <a:r>
              <a:rPr lang="en-US" b="0" dirty="0"/>
              <a:t>: 1 GPU can serve tens to hundreds of crops/s depending on model and batching.</a:t>
            </a:r>
          </a:p>
          <a:p>
            <a:endParaRPr lang="en-US" b="0" dirty="0"/>
          </a:p>
          <a:p>
            <a:endParaRPr lang="en-US" b="0" dirty="0"/>
          </a:p>
          <a:p>
            <a:pPr marL="0" indent="0">
              <a:buNone/>
            </a:pPr>
            <a:r>
              <a:rPr lang="en-US" b="0" dirty="0"/>
              <a:t>Note: Start and benchmark with the model performance.</a:t>
            </a:r>
          </a:p>
        </p:txBody>
      </p:sp>
    </p:spTree>
    <p:extLst>
      <p:ext uri="{BB962C8B-B14F-4D97-AF65-F5344CB8AC3E}">
        <p14:creationId xmlns:p14="http://schemas.microsoft.com/office/powerpoint/2010/main" val="557115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D7969-DDBA-65ED-E54B-AAE71F26E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7A92A-8F1D-1768-3428-F4A1FC5A7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1"/>
          </a:xfrm>
        </p:spPr>
        <p:txBody>
          <a:bodyPr>
            <a:normAutofit/>
          </a:bodyPr>
          <a:lstStyle/>
          <a:p>
            <a:pPr algn="ctr"/>
            <a:r>
              <a:rPr lang="en-IN" sz="1600" b="1" dirty="0"/>
              <a:t>Cache mechanism for fast ephemeral state</a:t>
            </a:r>
            <a:r>
              <a:rPr lang="en-IN" sz="1600" dirty="0"/>
              <a:t>, </a:t>
            </a:r>
            <a:r>
              <a:rPr lang="en-IN" sz="1600" b="1" dirty="0"/>
              <a:t>deduplication</a:t>
            </a:r>
            <a:endParaRPr lang="en-IN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6FE7C0-11AC-7B3E-8CAB-5E3305951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2025. SMAP Technologies. Confidential.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EC7244D-ACE2-5EE8-6CE9-3FE7F27E33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1318" y="1075765"/>
            <a:ext cx="5115503" cy="42662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buNone/>
            </a:pPr>
            <a:r>
              <a:rPr lang="en-IN" sz="1400" b="1" dirty="0"/>
              <a:t>Design Rationale:</a:t>
            </a:r>
          </a:p>
          <a:p>
            <a:r>
              <a:rPr lang="en-IN" sz="1200" b="1" dirty="0"/>
              <a:t>Recent-seen / </a:t>
            </a:r>
            <a:r>
              <a:rPr lang="en-IN" sz="1200" b="1" dirty="0" err="1"/>
              <a:t>dedup</a:t>
            </a:r>
            <a:r>
              <a:rPr lang="en-IN" sz="1200" b="1" dirty="0"/>
              <a:t> window</a:t>
            </a:r>
          </a:p>
          <a:p>
            <a:pPr lvl="1"/>
            <a:r>
              <a:rPr lang="en-US" sz="1100" dirty="0"/>
              <a:t>avoid multiple attendance events for the same employee from repeated frames/tracks.</a:t>
            </a:r>
          </a:p>
          <a:p>
            <a:pPr lvl="1"/>
            <a:r>
              <a:rPr lang="en-US" sz="1100" dirty="0"/>
              <a:t>Implementation example: store </a:t>
            </a:r>
            <a:r>
              <a:rPr lang="en-US" sz="1100" dirty="0" err="1"/>
              <a:t>recent_seen</a:t>
            </a:r>
            <a:r>
              <a:rPr lang="en-US" sz="1100" dirty="0"/>
              <a:t>:{</a:t>
            </a:r>
            <a:r>
              <a:rPr lang="en-US" sz="1100" dirty="0" err="1"/>
              <a:t>camera_id</a:t>
            </a:r>
            <a:r>
              <a:rPr lang="en-US" sz="1100" dirty="0"/>
              <a:t>}:{</a:t>
            </a:r>
            <a:r>
              <a:rPr lang="en-US" sz="1100" dirty="0" err="1"/>
              <a:t>user_id</a:t>
            </a:r>
            <a:r>
              <a:rPr lang="en-US" sz="1100" dirty="0"/>
              <a:t>} with small TTL (e.g., 10–120s). Presence = skip.</a:t>
            </a:r>
          </a:p>
          <a:p>
            <a:r>
              <a:rPr lang="en-IN" sz="1200" b="1" dirty="0"/>
              <a:t>Track -&gt; user binding cache</a:t>
            </a:r>
          </a:p>
          <a:p>
            <a:pPr lvl="1"/>
            <a:r>
              <a:rPr lang="en-IN" sz="1100" dirty="0"/>
              <a:t>while a track is active, cache </a:t>
            </a:r>
            <a:r>
              <a:rPr lang="en-IN" sz="1100" dirty="0" err="1"/>
              <a:t>track_user</a:t>
            </a:r>
            <a:r>
              <a:rPr lang="en-IN" sz="1100" dirty="0"/>
              <a:t>:{</a:t>
            </a:r>
            <a:r>
              <a:rPr lang="en-IN" sz="1100" dirty="0" err="1"/>
              <a:t>camera_id</a:t>
            </a:r>
            <a:r>
              <a:rPr lang="en-IN" sz="1100" dirty="0"/>
              <a:t>}:{</a:t>
            </a:r>
            <a:r>
              <a:rPr lang="en-IN" sz="1100" dirty="0" err="1"/>
              <a:t>track_id</a:t>
            </a:r>
            <a:r>
              <a:rPr lang="en-IN" sz="1100" dirty="0"/>
              <a:t>} = {</a:t>
            </a:r>
            <a:r>
              <a:rPr lang="en-IN" sz="1100" dirty="0" err="1"/>
              <a:t>user_id</a:t>
            </a:r>
            <a:r>
              <a:rPr lang="en-IN" sz="1100" dirty="0"/>
              <a:t>, </a:t>
            </a:r>
            <a:r>
              <a:rPr lang="en-IN" sz="1100" dirty="0" err="1"/>
              <a:t>last_seen_ts</a:t>
            </a:r>
            <a:r>
              <a:rPr lang="en-IN" sz="1100" dirty="0"/>
              <a:t>} TTL ~ </a:t>
            </a:r>
            <a:r>
              <a:rPr lang="en-IN" sz="1100" dirty="0" err="1"/>
              <a:t>track_timeout</a:t>
            </a:r>
            <a:r>
              <a:rPr lang="en-IN" sz="1100" dirty="0"/>
              <a:t>. Helps in reusing identity for same track.</a:t>
            </a:r>
          </a:p>
          <a:p>
            <a:r>
              <a:rPr lang="en-US" sz="1200" b="1" dirty="0"/>
              <a:t>User profile cache (fast read fallback)</a:t>
            </a:r>
          </a:p>
          <a:p>
            <a:pPr lvl="1"/>
            <a:r>
              <a:rPr lang="en-US" sz="1100" dirty="0"/>
              <a:t>read-through cache for user profile/employee metadata so attendance service can proceed if Postgres is momentarily down. Example Cached items (Actual need to design during pipeline formation): {</a:t>
            </a:r>
            <a:r>
              <a:rPr lang="en-US" sz="1100" dirty="0" err="1"/>
              <a:t>user_id</a:t>
            </a:r>
            <a:r>
              <a:rPr lang="en-US" sz="1100" dirty="0"/>
              <a:t>} -&gt; {name, </a:t>
            </a:r>
            <a:r>
              <a:rPr lang="en-US" sz="1100" dirty="0" err="1"/>
              <a:t>emp_code</a:t>
            </a:r>
            <a:r>
              <a:rPr lang="en-US" sz="1100" dirty="0"/>
              <a:t>, dept, </a:t>
            </a:r>
            <a:r>
              <a:rPr lang="en-US" sz="1100" dirty="0" err="1"/>
              <a:t>is_active</a:t>
            </a:r>
            <a:r>
              <a:rPr lang="en-US" sz="1100" dirty="0"/>
              <a:t>, </a:t>
            </a:r>
            <a:r>
              <a:rPr lang="en-US" sz="1100" dirty="0" err="1"/>
              <a:t>access_flags</a:t>
            </a:r>
            <a:r>
              <a:rPr lang="en-US" sz="1100" dirty="0"/>
              <a:t>}.</a:t>
            </a:r>
          </a:p>
          <a:p>
            <a:r>
              <a:rPr lang="en-IN" sz="1200" b="1" dirty="0"/>
              <a:t>Retry queue / pending events</a:t>
            </a:r>
          </a:p>
          <a:p>
            <a:pPr lvl="1"/>
            <a:r>
              <a:rPr lang="en-US" sz="1100" dirty="0"/>
              <a:t>Temporary storage for failed uploads/events that will be retried by background worker. Can be a Redis stream or list for reliability.</a:t>
            </a:r>
          </a:p>
          <a:p>
            <a:r>
              <a:rPr lang="en-IN" sz="1200" b="1" dirty="0"/>
              <a:t>Alert dedupe / suppression</a:t>
            </a:r>
            <a:endParaRPr lang="en-IN" sz="1200" dirty="0"/>
          </a:p>
          <a:p>
            <a:pPr lvl="1"/>
            <a:r>
              <a:rPr lang="en-IN" sz="1100" dirty="0"/>
              <a:t>Keep </a:t>
            </a:r>
            <a:r>
              <a:rPr lang="en-IN" sz="1100" dirty="0" err="1"/>
              <a:t>alert_suppressed</a:t>
            </a:r>
            <a:r>
              <a:rPr lang="en-IN" sz="1100" dirty="0"/>
              <a:t>:{</a:t>
            </a:r>
            <a:r>
              <a:rPr lang="en-IN" sz="1100" dirty="0" err="1"/>
              <a:t>alert_key</a:t>
            </a:r>
            <a:r>
              <a:rPr lang="en-IN" sz="1100" dirty="0"/>
              <a:t>} with TTL to avoid flooding (e.g., repeated spoof alerts suppressed for N seconds).</a:t>
            </a:r>
          </a:p>
          <a:p>
            <a:pPr marL="457200" lvl="1" indent="0">
              <a:buNone/>
            </a:pPr>
            <a:endParaRPr lang="en-IN" sz="11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1248FE-2273-8998-B86C-B99D0F3C43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1075764"/>
            <a:ext cx="5115503" cy="46078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1400" b="1" dirty="0"/>
              <a:t>Flow:</a:t>
            </a:r>
          </a:p>
          <a:p>
            <a:r>
              <a:rPr lang="en-IN" sz="1200" b="1" dirty="0" err="1"/>
              <a:t>Dedup</a:t>
            </a:r>
            <a:r>
              <a:rPr lang="en-IN" sz="1200" b="1" dirty="0"/>
              <a:t> &amp; track binding flow</a:t>
            </a:r>
            <a:endParaRPr lang="en-IN" sz="1200" dirty="0"/>
          </a:p>
          <a:p>
            <a:pPr lvl="1">
              <a:buFont typeface="+mj-lt"/>
              <a:buAutoNum type="arabicPeriod"/>
            </a:pPr>
            <a:r>
              <a:rPr lang="en-IN" sz="1100" dirty="0"/>
              <a:t>Tracker outputs </a:t>
            </a:r>
            <a:r>
              <a:rPr lang="en-IN" sz="1100" dirty="0" err="1"/>
              <a:t>track_id</a:t>
            </a:r>
            <a:r>
              <a:rPr lang="en-IN" sz="1100" dirty="0"/>
              <a:t> for detection.</a:t>
            </a:r>
          </a:p>
          <a:p>
            <a:pPr lvl="1">
              <a:buFont typeface="+mj-lt"/>
              <a:buAutoNum type="arabicPeriod"/>
            </a:pPr>
            <a:r>
              <a:rPr lang="en-IN" sz="1100" dirty="0"/>
              <a:t>Recognition returns </a:t>
            </a:r>
            <a:r>
              <a:rPr lang="en-IN" sz="1100" dirty="0" err="1"/>
              <a:t>user_id</a:t>
            </a:r>
            <a:r>
              <a:rPr lang="en-IN" sz="1100" dirty="0"/>
              <a:t> with confidence.</a:t>
            </a:r>
          </a:p>
          <a:p>
            <a:pPr lvl="1">
              <a:buFont typeface="+mj-lt"/>
              <a:buAutoNum type="arabicPeriod"/>
            </a:pPr>
            <a:r>
              <a:rPr lang="en-IN" sz="1100" dirty="0"/>
              <a:t>Worker checks </a:t>
            </a:r>
            <a:r>
              <a:rPr lang="en-IN" sz="1100" dirty="0" err="1"/>
              <a:t>recent_seen</a:t>
            </a:r>
            <a:r>
              <a:rPr lang="en-IN" sz="1100" dirty="0"/>
              <a:t>:{camera}:{user} — if exists → ignore (log </a:t>
            </a:r>
            <a:r>
              <a:rPr lang="en-IN" sz="1100" dirty="0" err="1"/>
              <a:t>dedup</a:t>
            </a:r>
            <a:r>
              <a:rPr lang="en-IN" sz="1100" dirty="0"/>
              <a:t>).</a:t>
            </a:r>
          </a:p>
          <a:p>
            <a:pPr lvl="1">
              <a:buFont typeface="+mj-lt"/>
              <a:buAutoNum type="arabicPeriod"/>
            </a:pPr>
            <a:r>
              <a:rPr lang="en-IN" sz="1100" dirty="0"/>
              <a:t>Else write </a:t>
            </a:r>
            <a:r>
              <a:rPr lang="en-IN" sz="1100" dirty="0" err="1"/>
              <a:t>recent_seen</a:t>
            </a:r>
            <a:r>
              <a:rPr lang="en-IN" sz="1100" dirty="0"/>
              <a:t>:{camera}:{user} = now with TTL 60s and proceed to attendance logic.</a:t>
            </a:r>
          </a:p>
          <a:p>
            <a:pPr lvl="1">
              <a:buFont typeface="+mj-lt"/>
              <a:buAutoNum type="arabicPeriod"/>
            </a:pPr>
            <a:r>
              <a:rPr lang="en-IN" sz="1100" dirty="0"/>
              <a:t>Also set </a:t>
            </a:r>
            <a:r>
              <a:rPr lang="en-IN" sz="1100" dirty="0" err="1"/>
              <a:t>track_user</a:t>
            </a:r>
            <a:r>
              <a:rPr lang="en-IN" sz="1100" dirty="0"/>
              <a:t>:{camera}:{track} = {</a:t>
            </a:r>
            <a:r>
              <a:rPr lang="en-IN" sz="1100" dirty="0" err="1"/>
              <a:t>user_id</a:t>
            </a:r>
            <a:r>
              <a:rPr lang="en-IN" sz="1100" dirty="0"/>
              <a:t>, </a:t>
            </a:r>
            <a:r>
              <a:rPr lang="en-IN" sz="1100" dirty="0" err="1"/>
              <a:t>last_seen</a:t>
            </a:r>
            <a:r>
              <a:rPr lang="en-IN" sz="1100" dirty="0"/>
              <a:t>} TTL </a:t>
            </a:r>
            <a:r>
              <a:rPr lang="en-IN" sz="1100" dirty="0" err="1"/>
              <a:t>track_timeout</a:t>
            </a:r>
            <a:r>
              <a:rPr lang="en-IN" sz="1100" dirty="0"/>
              <a:t>.</a:t>
            </a:r>
          </a:p>
          <a:p>
            <a:r>
              <a:rPr lang="en-IN" sz="1200" b="1" dirty="0"/>
              <a:t>Fallback when DB down</a:t>
            </a:r>
            <a:endParaRPr lang="en-IN" sz="1200" dirty="0"/>
          </a:p>
          <a:p>
            <a:pPr lvl="1"/>
            <a:r>
              <a:rPr lang="en-IN" sz="1100" dirty="0"/>
              <a:t>On recognition, fetch </a:t>
            </a:r>
            <a:r>
              <a:rPr lang="en-IN" sz="1100" dirty="0" err="1"/>
              <a:t>user_profile</a:t>
            </a:r>
            <a:r>
              <a:rPr lang="en-IN" sz="1100" dirty="0"/>
              <a:t>:{</a:t>
            </a:r>
            <a:r>
              <a:rPr lang="en-IN" sz="1100" dirty="0" err="1"/>
              <a:t>user_id</a:t>
            </a:r>
            <a:r>
              <a:rPr lang="en-IN" sz="1100" dirty="0"/>
              <a:t>} from Redis:</a:t>
            </a:r>
          </a:p>
          <a:p>
            <a:pPr lvl="2"/>
            <a:r>
              <a:rPr lang="en-IN" sz="1100" dirty="0"/>
              <a:t>If present → proceed and write attendance event (mark source=cached).</a:t>
            </a:r>
          </a:p>
          <a:p>
            <a:pPr lvl="2"/>
            <a:r>
              <a:rPr lang="en-IN" sz="1100" dirty="0"/>
              <a:t>If not present → record event to </a:t>
            </a:r>
            <a:r>
              <a:rPr lang="en-IN" sz="1100" dirty="0" err="1"/>
              <a:t>retry_queue</a:t>
            </a:r>
            <a:r>
              <a:rPr lang="en-IN" sz="1100" dirty="0"/>
              <a:t> and alert Deny Access User DB and log.</a:t>
            </a:r>
          </a:p>
          <a:p>
            <a:r>
              <a:rPr lang="en-IN" sz="1200" b="1" dirty="0"/>
              <a:t>Alert suppression</a:t>
            </a:r>
            <a:endParaRPr lang="en-IN" sz="1200" dirty="0"/>
          </a:p>
          <a:p>
            <a:pPr lvl="1"/>
            <a:r>
              <a:rPr lang="en-IN" sz="1100" dirty="0"/>
              <a:t>On spoof detection for </a:t>
            </a:r>
            <a:r>
              <a:rPr lang="en-IN" sz="1100" dirty="0" err="1"/>
              <a:t>user_id</a:t>
            </a:r>
            <a:r>
              <a:rPr lang="en-IN" sz="1100" dirty="0"/>
              <a:t> on camera, check </a:t>
            </a:r>
            <a:r>
              <a:rPr lang="en-IN" sz="1100" dirty="0" err="1"/>
              <a:t>alert_suppressed:spoof</a:t>
            </a:r>
            <a:r>
              <a:rPr lang="en-IN" sz="1100" dirty="0"/>
              <a:t>:{camera}:{user}:</a:t>
            </a:r>
          </a:p>
          <a:p>
            <a:pPr lvl="2"/>
            <a:r>
              <a:rPr lang="en-IN" sz="1100" dirty="0"/>
              <a:t>If exists → do not send alert; otherwise send alert and set suppression key TTL 300s.</a:t>
            </a:r>
          </a:p>
        </p:txBody>
      </p:sp>
    </p:spTree>
    <p:extLst>
      <p:ext uri="{BB962C8B-B14F-4D97-AF65-F5344CB8AC3E}">
        <p14:creationId xmlns:p14="http://schemas.microsoft.com/office/powerpoint/2010/main" val="394298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48E01-514D-30C4-4B49-36E594C3F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FAF58-48B5-0B21-8479-D0833C72D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1"/>
          </a:xfrm>
        </p:spPr>
        <p:txBody>
          <a:bodyPr>
            <a:normAutofit/>
          </a:bodyPr>
          <a:lstStyle/>
          <a:p>
            <a:pPr algn="ctr"/>
            <a:r>
              <a:rPr lang="en-US" sz="1600" b="1" dirty="0"/>
              <a:t>Failure handling, retries and DB-down behavior</a:t>
            </a:r>
            <a:endParaRPr lang="en-IN" sz="16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3D35FA-FD9E-2F3B-3F18-173640E36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2025. SMAP Technologies. Confidential.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F66EC2A-7262-4D5C-D8EB-489157CDC2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1318" y="1075765"/>
            <a:ext cx="5115503" cy="45540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buNone/>
            </a:pPr>
            <a:r>
              <a:rPr lang="en-IN" sz="1400" b="1" dirty="0"/>
              <a:t>Failure modes &amp; handling mechanism</a:t>
            </a:r>
          </a:p>
          <a:p>
            <a:r>
              <a:rPr lang="en-IN" sz="1200" b="1" dirty="0"/>
              <a:t>FAISS / Vector DB unavailable</a:t>
            </a:r>
            <a:endParaRPr lang="en-IN" sz="1200" dirty="0"/>
          </a:p>
          <a:p>
            <a:pPr lvl="1"/>
            <a:r>
              <a:rPr lang="en-IN" sz="1200" dirty="0"/>
              <a:t>Recognition workers should fallback to a degraded mode: run embedding but mark </a:t>
            </a:r>
            <a:r>
              <a:rPr lang="en-IN" sz="1200" dirty="0" err="1"/>
              <a:t>no_index</a:t>
            </a:r>
            <a:r>
              <a:rPr lang="en-IN" sz="1200" dirty="0"/>
              <a:t> → push event to logging/alert and optionally store embedding to retry batch compare later.</a:t>
            </a:r>
          </a:p>
          <a:p>
            <a:pPr lvl="1"/>
            <a:r>
              <a:rPr lang="en-IN" sz="1200" dirty="0"/>
              <a:t>Alert Deny Access Feature store or No match depending on logic.</a:t>
            </a:r>
          </a:p>
          <a:p>
            <a:r>
              <a:rPr lang="en-IN" sz="1200" b="1" dirty="0"/>
              <a:t>Postgres user DB unavailable</a:t>
            </a:r>
            <a:endParaRPr lang="en-IN" sz="1200" dirty="0"/>
          </a:p>
          <a:p>
            <a:pPr lvl="1"/>
            <a:r>
              <a:rPr lang="en-IN" sz="1200" dirty="0"/>
              <a:t>Use cached </a:t>
            </a:r>
            <a:r>
              <a:rPr lang="en-IN" sz="1200" dirty="0" err="1"/>
              <a:t>user_profile</a:t>
            </a:r>
            <a:r>
              <a:rPr lang="en-IN" sz="1200" dirty="0"/>
              <a:t>:{</a:t>
            </a:r>
            <a:r>
              <a:rPr lang="en-IN" sz="1200" dirty="0" err="1"/>
              <a:t>user_id</a:t>
            </a:r>
            <a:r>
              <a:rPr lang="en-IN" sz="1200" dirty="0"/>
              <a:t>} in Redis to proceed. If not cached, </a:t>
            </a:r>
            <a:r>
              <a:rPr lang="en-IN" sz="1200" b="1" dirty="0"/>
              <a:t>do not block recognition</a:t>
            </a:r>
            <a:r>
              <a:rPr lang="en-IN" sz="1200" dirty="0"/>
              <a:t> — create a provisional attendance event with </a:t>
            </a:r>
            <a:r>
              <a:rPr lang="en-IN" sz="1200" dirty="0" err="1"/>
              <a:t>user_id</a:t>
            </a:r>
            <a:r>
              <a:rPr lang="en-IN" sz="1200" dirty="0"/>
              <a:t> and status=DB_LOOKUP_FAIL and push to </a:t>
            </a:r>
            <a:r>
              <a:rPr lang="en-IN" sz="1200" dirty="0" err="1"/>
              <a:t>retry_queue</a:t>
            </a:r>
            <a:r>
              <a:rPr lang="en-IN" sz="1200" dirty="0"/>
              <a:t> for post-processing. Alert Deny Access User DB.</a:t>
            </a:r>
          </a:p>
          <a:p>
            <a:r>
              <a:rPr lang="en-IN" sz="1200" b="1" dirty="0"/>
              <a:t>Liveness model failures / model crashes</a:t>
            </a:r>
            <a:endParaRPr lang="en-IN" sz="1200" dirty="0"/>
          </a:p>
          <a:p>
            <a:pPr lvl="1"/>
            <a:r>
              <a:rPr lang="en-IN" sz="1200" dirty="0"/>
              <a:t>Fallback: mark liveness as unknown → policy decides (default deny). Log and alert Deny Access Spoof. Retry liveness for next frames for same track.</a:t>
            </a:r>
          </a:p>
          <a:p>
            <a:r>
              <a:rPr lang="en-IN" sz="1200" b="1" dirty="0"/>
              <a:t>Network/IO issues</a:t>
            </a:r>
            <a:endParaRPr lang="en-IN" sz="1200" dirty="0"/>
          </a:p>
          <a:p>
            <a:pPr lvl="1"/>
            <a:r>
              <a:rPr lang="en-IN" sz="1200" dirty="0"/>
              <a:t>RTSP disconnects: reconnect with exponential backoff (store last N frames).</a:t>
            </a:r>
          </a:p>
          <a:p>
            <a:pPr lvl="1"/>
            <a:r>
              <a:rPr lang="en-IN" sz="1200" dirty="0"/>
              <a:t>Write to DB fails: write to Redis retry queue and background worker will reattempt.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7154987-60ED-CB2B-9462-F37DC18321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5181" y="1075765"/>
            <a:ext cx="5115503" cy="42662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1400" b="1" dirty="0"/>
              <a:t>Retry policy</a:t>
            </a:r>
          </a:p>
          <a:p>
            <a:pPr marL="0" indent="0">
              <a:buNone/>
            </a:pPr>
            <a:r>
              <a:rPr lang="en-IN" sz="1200" b="1" dirty="0"/>
              <a:t>Immediate</a:t>
            </a:r>
            <a:r>
              <a:rPr lang="en-IN" sz="1200" dirty="0"/>
              <a:t>: 3 attempts with small jitter (0.5s → 1s → 2s).</a:t>
            </a:r>
          </a:p>
          <a:p>
            <a:pPr marL="0" indent="0">
              <a:buNone/>
            </a:pPr>
            <a:r>
              <a:rPr lang="en-IN" sz="1200" b="1" dirty="0"/>
              <a:t>Queued</a:t>
            </a:r>
            <a:r>
              <a:rPr lang="en-IN" sz="1200" dirty="0"/>
              <a:t>: push to Redis stream </a:t>
            </a:r>
            <a:r>
              <a:rPr lang="en-IN" sz="1200" dirty="0" err="1"/>
              <a:t>retry_queue</a:t>
            </a:r>
            <a:r>
              <a:rPr lang="en-IN" sz="1200" dirty="0"/>
              <a:t> with </a:t>
            </a:r>
            <a:r>
              <a:rPr lang="en-IN" sz="1200" dirty="0" err="1"/>
              <a:t>attempt_count</a:t>
            </a:r>
            <a:r>
              <a:rPr lang="en-IN" sz="1200" dirty="0"/>
              <a:t>. Background retry worker processes exponential backoff: </a:t>
            </a:r>
            <a:r>
              <a:rPr lang="en-IN" sz="1200" dirty="0" err="1"/>
              <a:t>attempt_count</a:t>
            </a:r>
            <a:r>
              <a:rPr lang="en-IN" sz="1200" dirty="0"/>
              <a:t> * </a:t>
            </a:r>
            <a:r>
              <a:rPr lang="en-IN" sz="1200" dirty="0" err="1"/>
              <a:t>base_delay</a:t>
            </a:r>
            <a:r>
              <a:rPr lang="en-IN" sz="1200" dirty="0"/>
              <a:t> up to max attempts (e.g., 5).</a:t>
            </a:r>
          </a:p>
          <a:p>
            <a:pPr marL="0" indent="0">
              <a:buNone/>
            </a:pPr>
            <a:r>
              <a:rPr lang="en-IN" sz="1200" dirty="0"/>
              <a:t>On final failure, record permanent audit log and raise high-severity alert.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09360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1BF2D-61CE-C16B-44F1-4038ADE62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1DB8F-FC72-5ED8-D64A-7CF57B787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1"/>
          </a:xfrm>
        </p:spPr>
        <p:txBody>
          <a:bodyPr>
            <a:normAutofit/>
          </a:bodyPr>
          <a:lstStyle/>
          <a:p>
            <a:pPr algn="ctr"/>
            <a:r>
              <a:rPr lang="en-US" sz="1600" b="1" dirty="0"/>
              <a:t>Alert classification &amp; mapping to actions</a:t>
            </a:r>
            <a:endParaRPr lang="en-IN" sz="16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9FC4D6-38A9-67CF-E4AC-F1F3DF5E6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2025. SMAP Technologies. Confidential.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A1A2304-D7F2-1960-BF45-87E021665A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4940424"/>
              </p:ext>
            </p:extLst>
          </p:nvPr>
        </p:nvGraphicFramePr>
        <p:xfrm>
          <a:off x="838200" y="1042396"/>
          <a:ext cx="10515601" cy="3312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3289">
                  <a:extLst>
                    <a:ext uri="{9D8B030D-6E8A-4147-A177-3AD203B41FA5}">
                      <a16:colId xmlns:a16="http://schemas.microsoft.com/office/drawing/2014/main" val="83119588"/>
                    </a:ext>
                  </a:extLst>
                </a:gridCol>
                <a:gridCol w="2664104">
                  <a:extLst>
                    <a:ext uri="{9D8B030D-6E8A-4147-A177-3AD203B41FA5}">
                      <a16:colId xmlns:a16="http://schemas.microsoft.com/office/drawing/2014/main" val="923694121"/>
                    </a:ext>
                  </a:extLst>
                </a:gridCol>
                <a:gridCol w="2664104">
                  <a:extLst>
                    <a:ext uri="{9D8B030D-6E8A-4147-A177-3AD203B41FA5}">
                      <a16:colId xmlns:a16="http://schemas.microsoft.com/office/drawing/2014/main" val="1397145248"/>
                    </a:ext>
                  </a:extLst>
                </a:gridCol>
                <a:gridCol w="2664104">
                  <a:extLst>
                    <a:ext uri="{9D8B030D-6E8A-4147-A177-3AD203B41FA5}">
                      <a16:colId xmlns:a16="http://schemas.microsoft.com/office/drawing/2014/main" val="37434144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400" dirty="0"/>
                        <a:t>Alert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Trigger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Severity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2192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 err="1"/>
                        <a:t>DenyAccess_NoFace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 face crop found at checkpoint / repeated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Deny access, log, notify guard UI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675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 err="1"/>
                        <a:t>DenyAccess_FeatureStore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FAISS/index failure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Deny or fallback; alert Ops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0560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 err="1"/>
                        <a:t>Alert_Security_Repeated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Repeated failed matches or tampering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Notify security + create incident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3278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 err="1"/>
                        <a:t>DenyAccess_NoMatch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Face matched below confidence &amp; policy denies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Deny access, show message, log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0287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 err="1"/>
                        <a:t>Alert_Security_Spoof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Liveness failed (spoof)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Immediate security alert, lock gate if integrated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2058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 err="1"/>
                        <a:t>DenyAccess_UserDB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User DB unreachable for matched ID and no cache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Deny/Quarantine, raise ops alert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5726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 err="1"/>
                        <a:t>DenyAccess_Timeout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Decision timeout (pipeline stalled)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Medium/High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Deny, log, notify Ops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8126648"/>
                  </a:ext>
                </a:extLst>
              </a:tr>
            </a:tbl>
          </a:graphicData>
        </a:graphic>
      </p:graphicFrame>
      <p:sp>
        <p:nvSpPr>
          <p:cNvPr id="9" name="Rectangle 2">
            <a:extLst>
              <a:ext uri="{FF2B5EF4-FFF2-40B4-BE49-F238E27FC236}">
                <a16:creationId xmlns:a16="http://schemas.microsoft.com/office/drawing/2014/main" id="{FDC35467-ABA0-1487-31BB-2A89E249B7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311" y="4554070"/>
            <a:ext cx="8575877" cy="16046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1400" b="1" dirty="0"/>
              <a:t>Alerts sink</a:t>
            </a:r>
            <a:r>
              <a:rPr lang="en-IN" sz="1400" dirty="0"/>
              <a:t>:</a:t>
            </a:r>
            <a:endParaRPr lang="en-IN" sz="1200" dirty="0"/>
          </a:p>
          <a:p>
            <a:r>
              <a:rPr lang="en-US" sz="1200" b="1" dirty="0"/>
              <a:t>Monitoring UI</a:t>
            </a:r>
            <a:r>
              <a:rPr lang="en-US" sz="1200" dirty="0"/>
              <a:t>: show active alerts &amp; status</a:t>
            </a:r>
          </a:p>
          <a:p>
            <a:r>
              <a:rPr lang="en-US" sz="1200" b="1" dirty="0"/>
              <a:t>Security Dashboard</a:t>
            </a:r>
            <a:r>
              <a:rPr lang="en-US" sz="1200" dirty="0"/>
              <a:t>: show immediate security incidents</a:t>
            </a:r>
          </a:p>
          <a:p>
            <a:r>
              <a:rPr lang="en-US" sz="1200" b="1" dirty="0"/>
              <a:t>Audit logs</a:t>
            </a:r>
            <a:r>
              <a:rPr lang="en-US" sz="1200" dirty="0"/>
              <a:t>: append-only event store for compliance</a:t>
            </a:r>
            <a:endParaRPr lang="en-IN" sz="1200" b="1" dirty="0"/>
          </a:p>
        </p:txBody>
      </p:sp>
    </p:spTree>
    <p:extLst>
      <p:ext uri="{BB962C8B-B14F-4D97-AF65-F5344CB8AC3E}">
        <p14:creationId xmlns:p14="http://schemas.microsoft.com/office/powerpoint/2010/main" val="435298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E7C05-8CEB-EEBD-7459-BDDC2078C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4E77CD-86F0-4258-5C07-A43BEAE83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2025. SMAP Technologies. Confidential.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CC6E6-457D-7831-8C07-AB00DEA12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0588"/>
            <a:ext cx="10515600" cy="5056375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buNone/>
            </a:pPr>
            <a:r>
              <a:rPr lang="en-US" sz="1400" b="1" dirty="0"/>
              <a:t>Flow when a candidate is recognized:</a:t>
            </a:r>
            <a:endParaRPr lang="en-IN" sz="1400" b="1" dirty="0"/>
          </a:p>
          <a:p>
            <a:r>
              <a:rPr lang="en-US" altLang="en-US" sz="1200" dirty="0"/>
              <a:t>Recognition returns {</a:t>
            </a:r>
            <a:r>
              <a:rPr lang="en-US" altLang="en-US" sz="1200" dirty="0" err="1"/>
              <a:t>user_id</a:t>
            </a:r>
            <a:r>
              <a:rPr lang="en-US" altLang="en-US" sz="1200" dirty="0"/>
              <a:t>, conf}.</a:t>
            </a:r>
          </a:p>
          <a:p>
            <a:r>
              <a:rPr lang="en-US" altLang="en-US" sz="1200" dirty="0"/>
              <a:t>Liveness result: pass/fail/unknown.</a:t>
            </a:r>
          </a:p>
          <a:p>
            <a:r>
              <a:rPr lang="en-US" altLang="en-US" sz="1200" dirty="0"/>
              <a:t>Query OPA with data: {</a:t>
            </a:r>
            <a:r>
              <a:rPr lang="en-US" altLang="en-US" sz="1200" dirty="0" err="1"/>
              <a:t>user_profile</a:t>
            </a:r>
            <a:r>
              <a:rPr lang="en-US" altLang="en-US" sz="1200" dirty="0"/>
              <a:t>, </a:t>
            </a:r>
            <a:r>
              <a:rPr lang="en-US" altLang="en-US" sz="1200" dirty="0" err="1"/>
              <a:t>camera_meta</a:t>
            </a:r>
            <a:r>
              <a:rPr lang="en-US" altLang="en-US" sz="1200" dirty="0"/>
              <a:t>, time, conf, liveness}.</a:t>
            </a:r>
          </a:p>
          <a:p>
            <a:r>
              <a:rPr lang="en-US" altLang="en-US" sz="1200" dirty="0"/>
              <a:t>OPA returns decision: {allow: true/false, reason, actions}.</a:t>
            </a:r>
          </a:p>
          <a:p>
            <a:r>
              <a:rPr lang="en-US" altLang="en-US" sz="1200" dirty="0"/>
              <a:t>Attendance service acts: create attendance event if allowed; otherwise deny and send alert according to reason</a:t>
            </a:r>
            <a:r>
              <a:rPr lang="en-US" altLang="en-US" sz="1400" dirty="0"/>
              <a:t>.</a:t>
            </a:r>
          </a:p>
          <a:p>
            <a:endParaRPr lang="en-US" altLang="en-US" sz="1400" dirty="0"/>
          </a:p>
          <a:p>
            <a:pPr marL="0" indent="0">
              <a:buNone/>
            </a:pPr>
            <a:r>
              <a:rPr lang="en-US" sz="1400" dirty="0"/>
              <a:t>Make decisions readable/auditable: keep the OPA input &amp; output in the audit log for incident investigations.</a:t>
            </a:r>
            <a:endParaRPr lang="en-US" altLang="en-US" sz="1400" dirty="0"/>
          </a:p>
          <a:p>
            <a:pPr marL="0" indent="0">
              <a:buNone/>
            </a:pPr>
            <a:endParaRPr lang="en-IN" sz="14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703D102-A23E-444E-9796-340496748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1"/>
          </a:xfrm>
        </p:spPr>
        <p:txBody>
          <a:bodyPr>
            <a:normAutofit/>
          </a:bodyPr>
          <a:lstStyle/>
          <a:p>
            <a:pPr algn="ctr"/>
            <a:r>
              <a:rPr lang="en-US" sz="1600" b="1" dirty="0"/>
              <a:t>Policy evaluation flow (OPA integration)</a:t>
            </a:r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3343869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7D9BD-D60D-C3CC-EF22-DF6998B2B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F43EDA-8545-E301-BBE7-8BEFCE5BC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2025. SMAP Technologies. Confidential.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60B43-1667-F4E4-C37D-5898EE01A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0588"/>
            <a:ext cx="10515600" cy="5235762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buNone/>
            </a:pPr>
            <a:r>
              <a:rPr lang="en-IN" sz="1400" b="1" dirty="0"/>
              <a:t>Workload Assumptions:</a:t>
            </a:r>
          </a:p>
          <a:p>
            <a:r>
              <a:rPr lang="en-IN" sz="1200" b="1" dirty="0"/>
              <a:t>Video resolution</a:t>
            </a:r>
            <a:r>
              <a:rPr lang="en-IN" sz="1200" dirty="0"/>
              <a:t>: 720p (or 640p low priority)</a:t>
            </a:r>
          </a:p>
          <a:p>
            <a:r>
              <a:rPr lang="en-IN" sz="1200" b="1" dirty="0"/>
              <a:t>Frame rate processed</a:t>
            </a:r>
            <a:r>
              <a:rPr lang="en-IN" sz="1200" dirty="0"/>
              <a:t>: ~5 fps (not full 30 fps)</a:t>
            </a:r>
          </a:p>
          <a:p>
            <a:r>
              <a:rPr lang="en-IN" sz="1200" b="1" dirty="0"/>
              <a:t>Face density</a:t>
            </a:r>
            <a:r>
              <a:rPr lang="en-IN" sz="1200" dirty="0"/>
              <a:t>: 1–3 faces per frame (typical entrance scenarios). – Need to evaluate at actual</a:t>
            </a:r>
          </a:p>
          <a:p>
            <a:r>
              <a:rPr lang="en-IN" sz="1200" b="1" dirty="0"/>
              <a:t>Detection</a:t>
            </a:r>
            <a:r>
              <a:rPr lang="en-IN" sz="1200" dirty="0"/>
              <a:t>: lightweight model (</a:t>
            </a:r>
            <a:r>
              <a:rPr lang="en-IN" sz="1200" dirty="0" err="1"/>
              <a:t>BlazeFace</a:t>
            </a:r>
            <a:r>
              <a:rPr lang="en-IN" sz="1200" dirty="0"/>
              <a:t> / </a:t>
            </a:r>
            <a:r>
              <a:rPr lang="en-IN" sz="1200" dirty="0" err="1"/>
              <a:t>RetinaFace</a:t>
            </a:r>
            <a:r>
              <a:rPr lang="en-IN" sz="1200" dirty="0"/>
              <a:t>-CPU)</a:t>
            </a:r>
          </a:p>
          <a:p>
            <a:r>
              <a:rPr lang="en-IN" sz="1200" b="1" dirty="0"/>
              <a:t>Recognition</a:t>
            </a:r>
            <a:r>
              <a:rPr lang="en-IN" sz="1200" dirty="0"/>
              <a:t>: </a:t>
            </a:r>
            <a:r>
              <a:rPr lang="en-IN" sz="1200" dirty="0" err="1"/>
              <a:t>ArcFace</a:t>
            </a:r>
            <a:r>
              <a:rPr lang="en-IN" sz="1200" dirty="0"/>
              <a:t>/FaceNet CPU via ONNX Runtime/</a:t>
            </a:r>
            <a:r>
              <a:rPr lang="en-IN" sz="1200" dirty="0" err="1"/>
              <a:t>OpenVINO</a:t>
            </a:r>
            <a:endParaRPr lang="en-IN" sz="1200" dirty="0"/>
          </a:p>
          <a:p>
            <a:r>
              <a:rPr lang="en-IN" sz="1200" b="1" dirty="0"/>
              <a:t>Vector DB</a:t>
            </a:r>
            <a:r>
              <a:rPr lang="en-IN" sz="1200" dirty="0"/>
              <a:t>: FAISS (CPU, in-memory index)</a:t>
            </a:r>
          </a:p>
          <a:p>
            <a:r>
              <a:rPr lang="en-IN" sz="1200" b="1" dirty="0"/>
              <a:t>Liveness</a:t>
            </a:r>
            <a:r>
              <a:rPr lang="en-IN" sz="1200" dirty="0"/>
              <a:t>: lightweight model (</a:t>
            </a:r>
            <a:r>
              <a:rPr lang="en-IN" sz="1200" dirty="0" err="1"/>
              <a:t>MediaPipe</a:t>
            </a:r>
            <a:r>
              <a:rPr lang="en-IN" sz="1200" dirty="0"/>
              <a:t> / small CNN)</a:t>
            </a:r>
          </a:p>
          <a:p>
            <a:r>
              <a:rPr lang="en-IN" sz="1200" b="1" dirty="0"/>
              <a:t>Tracker</a:t>
            </a:r>
            <a:r>
              <a:rPr lang="en-IN" sz="1200" dirty="0"/>
              <a:t>: </a:t>
            </a:r>
            <a:r>
              <a:rPr lang="en-IN" sz="1200" dirty="0" err="1"/>
              <a:t>ByteTrack</a:t>
            </a:r>
            <a:r>
              <a:rPr lang="en-IN" sz="1200" dirty="0"/>
              <a:t>/</a:t>
            </a:r>
            <a:r>
              <a:rPr lang="en-IN" sz="1200" dirty="0" err="1"/>
              <a:t>DeepSORT</a:t>
            </a:r>
            <a:r>
              <a:rPr lang="en-IN" sz="1200" dirty="0"/>
              <a:t> (low CPU overhead)</a:t>
            </a:r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r>
              <a:rPr lang="en-IN" sz="1400" b="1" dirty="0"/>
              <a:t>Rough CPU Performance Metrics:</a:t>
            </a:r>
          </a:p>
          <a:p>
            <a:r>
              <a:rPr lang="en-IN" sz="1200" b="1" dirty="0"/>
              <a:t>Decode RTSP (720p)</a:t>
            </a:r>
            <a:r>
              <a:rPr lang="en-IN" sz="1200" dirty="0"/>
              <a:t>: ~0.3 vCPU per stream (vs 0.5 for 1080p).</a:t>
            </a:r>
          </a:p>
          <a:p>
            <a:r>
              <a:rPr lang="en-IN" sz="1200" b="1" dirty="0"/>
              <a:t>Face detection (</a:t>
            </a:r>
            <a:r>
              <a:rPr lang="en-IN" sz="1200" b="1" dirty="0" err="1"/>
              <a:t>BlazeFace</a:t>
            </a:r>
            <a:r>
              <a:rPr lang="en-IN" sz="1200" b="1" dirty="0"/>
              <a:t>/</a:t>
            </a:r>
            <a:r>
              <a:rPr lang="en-IN" sz="1200" b="1" dirty="0" err="1"/>
              <a:t>RetinaFace</a:t>
            </a:r>
            <a:r>
              <a:rPr lang="en-IN" sz="1200" b="1" dirty="0"/>
              <a:t>-CPU)</a:t>
            </a:r>
            <a:r>
              <a:rPr lang="en-IN" sz="1200" dirty="0"/>
              <a:t>: 1 vCPU can process ~15 fps (vs 10 at 1080p).</a:t>
            </a:r>
          </a:p>
          <a:p>
            <a:r>
              <a:rPr lang="en-US" sz="1200" b="1" dirty="0"/>
              <a:t>Recognition (</a:t>
            </a:r>
            <a:r>
              <a:rPr lang="en-US" sz="1200" b="1" dirty="0" err="1"/>
              <a:t>ArcFace</a:t>
            </a:r>
            <a:r>
              <a:rPr lang="en-US" sz="1200" b="1" dirty="0"/>
              <a:t>/FaceNet CPU)</a:t>
            </a:r>
            <a:r>
              <a:rPr lang="en-US" sz="1200" dirty="0"/>
              <a:t>: 1 vCPU → ~12–15 crops/sec (vs 8–12 at 1080p).</a:t>
            </a:r>
          </a:p>
          <a:p>
            <a:r>
              <a:rPr lang="en-IN" sz="1200" b="1" dirty="0"/>
              <a:t>Liveness (light CNN/</a:t>
            </a:r>
            <a:r>
              <a:rPr lang="en-IN" sz="1200" b="1" dirty="0" err="1"/>
              <a:t>MediaPipe</a:t>
            </a:r>
            <a:r>
              <a:rPr lang="en-IN" sz="1200" b="1" dirty="0"/>
              <a:t>)</a:t>
            </a:r>
            <a:r>
              <a:rPr lang="en-IN" sz="1200" dirty="0"/>
              <a:t>: 1 vCPU → ~12 crops/sec.</a:t>
            </a:r>
          </a:p>
          <a:p>
            <a:r>
              <a:rPr lang="en-IN" sz="1200" b="1" dirty="0"/>
              <a:t>FAISS search</a:t>
            </a:r>
            <a:r>
              <a:rPr lang="en-IN" sz="1200" dirty="0"/>
              <a:t>: negligible (~&lt;5 </a:t>
            </a:r>
            <a:r>
              <a:rPr lang="en-IN" sz="1200" dirty="0" err="1"/>
              <a:t>ms</a:t>
            </a:r>
            <a:r>
              <a:rPr lang="en-IN" sz="1200" dirty="0"/>
              <a:t> per query with 10–20k templates).</a:t>
            </a:r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DB128BA-A82D-DE1C-E9D2-01F215D79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1"/>
          </a:xfrm>
        </p:spPr>
        <p:txBody>
          <a:bodyPr>
            <a:normAutofit/>
          </a:bodyPr>
          <a:lstStyle/>
          <a:p>
            <a:pPr algn="ctr"/>
            <a:r>
              <a:rPr lang="en-IN" sz="1600" b="1" dirty="0"/>
              <a:t>CPU Sizing Evaluation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3C70C88-6808-B29F-D6F5-F328FB0203EF}"/>
              </a:ext>
            </a:extLst>
          </p:cNvPr>
          <p:cNvSpPr txBox="1">
            <a:spLocks/>
          </p:cNvSpPr>
          <p:nvPr/>
        </p:nvSpPr>
        <p:spPr>
          <a:xfrm>
            <a:off x="7247964" y="1120588"/>
            <a:ext cx="4388224" cy="5056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1400" b="1" dirty="0"/>
              <a:t>Deployment Sizing</a:t>
            </a:r>
          </a:p>
          <a:p>
            <a:r>
              <a:rPr lang="en-IN" sz="1200" b="1" dirty="0"/>
              <a:t>Small (≤10 cameras @ 5 fps) </a:t>
            </a:r>
            <a:r>
              <a:rPr lang="en-IN" sz="1200" b="1" dirty="0">
                <a:sym typeface="Wingdings" panose="05000000000000000000" pitchFamily="2" charset="2"/>
              </a:rPr>
              <a:t> </a:t>
            </a:r>
            <a:r>
              <a:rPr lang="en-IN" sz="1200" b="1" dirty="0">
                <a:solidFill>
                  <a:srgbClr val="FF0000"/>
                </a:solidFill>
                <a:sym typeface="Wingdings" panose="05000000000000000000" pitchFamily="2" charset="2"/>
              </a:rPr>
              <a:t>Saturday Demo with this</a:t>
            </a:r>
            <a:r>
              <a:rPr lang="en-IN" sz="1200" b="1" dirty="0">
                <a:sym typeface="Wingdings" panose="05000000000000000000" pitchFamily="2" charset="2"/>
              </a:rPr>
              <a:t> </a:t>
            </a:r>
            <a:endParaRPr lang="en-IN" sz="1200" b="1" dirty="0"/>
          </a:p>
          <a:p>
            <a:pPr lvl="1"/>
            <a:r>
              <a:rPr lang="en-IN" sz="1200" b="1" dirty="0"/>
              <a:t>Cores</a:t>
            </a:r>
            <a:r>
              <a:rPr lang="en-IN" sz="1200" dirty="0"/>
              <a:t>: 6–8 vCPU</a:t>
            </a:r>
          </a:p>
          <a:p>
            <a:pPr lvl="1"/>
            <a:r>
              <a:rPr lang="en-IN" sz="1200" b="1" dirty="0"/>
              <a:t>RAM</a:t>
            </a:r>
            <a:r>
              <a:rPr lang="en-IN" sz="1200" dirty="0"/>
              <a:t>: 16 GB</a:t>
            </a:r>
          </a:p>
          <a:p>
            <a:r>
              <a:rPr lang="en-US" sz="1200" b="1" dirty="0"/>
              <a:t>Medium (25–30 cameras)</a:t>
            </a:r>
          </a:p>
          <a:p>
            <a:pPr lvl="1"/>
            <a:r>
              <a:rPr lang="en-US" sz="1200" b="1" dirty="0"/>
              <a:t>Cores</a:t>
            </a:r>
            <a:r>
              <a:rPr lang="en-US" sz="1200" dirty="0"/>
              <a:t>: 12–14 vCPU (instead of 16)</a:t>
            </a:r>
          </a:p>
          <a:p>
            <a:pPr lvl="1"/>
            <a:r>
              <a:rPr lang="en-US" sz="1200" b="1" dirty="0"/>
              <a:t>RAM</a:t>
            </a:r>
            <a:r>
              <a:rPr lang="en-US" sz="1200" dirty="0"/>
              <a:t>: 24–32 GB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673809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CF68E-0C25-1602-64A4-F38D635D4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883B67-CDAA-6E97-EE50-150BDAC2F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2025. SMAP Technologies. Confidential.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B8A48-6E8B-8EDF-35CF-FFA636CEF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0588"/>
            <a:ext cx="10515600" cy="5235762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buNone/>
            </a:pPr>
            <a:r>
              <a:rPr lang="en-IN" sz="1400" b="1" dirty="0"/>
              <a:t>Epic 1 — Camera &amp; Stream Handling</a:t>
            </a:r>
          </a:p>
          <a:p>
            <a:r>
              <a:rPr lang="en-IN" sz="1400" b="1" dirty="0"/>
              <a:t>Story 1.1:</a:t>
            </a:r>
            <a:r>
              <a:rPr lang="en-IN" sz="1400" dirty="0"/>
              <a:t> Implement NVR integration (RTSP pull, config per camera with name/location). The camera configuration need to fetch from the database.</a:t>
            </a:r>
          </a:p>
          <a:p>
            <a:r>
              <a:rPr lang="en-IN" sz="1400" b="1" dirty="0"/>
              <a:t>Story 1.2:</a:t>
            </a:r>
            <a:r>
              <a:rPr lang="en-IN" sz="1400" dirty="0"/>
              <a:t> Build Camera Handling Service (threaded workers for decoding).</a:t>
            </a:r>
          </a:p>
          <a:p>
            <a:r>
              <a:rPr lang="en-IN" sz="1400" b="1" dirty="0"/>
              <a:t>Story 1.3:</a:t>
            </a:r>
            <a:r>
              <a:rPr lang="en-IN" sz="1400" dirty="0"/>
              <a:t> Add frame throttling (configurable fps per camera).</a:t>
            </a:r>
          </a:p>
          <a:p>
            <a:r>
              <a:rPr lang="en-IN" sz="1400" b="1" dirty="0"/>
              <a:t>Story 1.4:</a:t>
            </a:r>
            <a:r>
              <a:rPr lang="en-IN" sz="1400" dirty="0"/>
              <a:t> Buffer frames (local queue) &amp; retry mechanism.</a:t>
            </a:r>
          </a:p>
          <a:p>
            <a:r>
              <a:rPr lang="en-IN" sz="1400" b="1" dirty="0"/>
              <a:t>Story 1.5:</a:t>
            </a:r>
            <a:r>
              <a:rPr lang="en-IN" sz="1400" dirty="0"/>
              <a:t> Health check API (camera online/offline status).</a:t>
            </a:r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r>
              <a:rPr lang="en-IN" sz="1400" b="1" dirty="0"/>
              <a:t>Epic 2 — Stream </a:t>
            </a:r>
            <a:r>
              <a:rPr lang="en-IN" sz="1400" b="1" dirty="0" err="1"/>
              <a:t>Ingestor</a:t>
            </a:r>
            <a:r>
              <a:rPr lang="en-IN" sz="1400" b="1" dirty="0"/>
              <a:t> (Detection + Tracking)</a:t>
            </a:r>
          </a:p>
          <a:p>
            <a:r>
              <a:rPr lang="en-IN" sz="1400" b="1" dirty="0"/>
              <a:t>Story 2.1:</a:t>
            </a:r>
            <a:r>
              <a:rPr lang="en-IN" sz="1400" dirty="0"/>
              <a:t> Integrate face detection (</a:t>
            </a:r>
            <a:r>
              <a:rPr lang="en-IN" sz="1400" dirty="0" err="1"/>
              <a:t>BlazeFace</a:t>
            </a:r>
            <a:r>
              <a:rPr lang="en-IN" sz="1400" dirty="0"/>
              <a:t>/</a:t>
            </a:r>
            <a:r>
              <a:rPr lang="en-IN" sz="1400" dirty="0" err="1"/>
              <a:t>RetinaFace</a:t>
            </a:r>
            <a:r>
              <a:rPr lang="en-IN" sz="1400" dirty="0"/>
              <a:t>-CPU).</a:t>
            </a:r>
          </a:p>
          <a:p>
            <a:r>
              <a:rPr lang="en-IN" sz="1400" b="1" dirty="0"/>
              <a:t>Story 2.2:</a:t>
            </a:r>
            <a:r>
              <a:rPr lang="en-IN" sz="1400" dirty="0"/>
              <a:t> Implement tracker (</a:t>
            </a:r>
            <a:r>
              <a:rPr lang="en-IN" sz="1400" dirty="0" err="1"/>
              <a:t>DeepSORT</a:t>
            </a:r>
            <a:r>
              <a:rPr lang="en-IN" sz="1400" dirty="0"/>
              <a:t>/</a:t>
            </a:r>
            <a:r>
              <a:rPr lang="en-IN" sz="1400" dirty="0" err="1"/>
              <a:t>ByteTrack</a:t>
            </a:r>
            <a:r>
              <a:rPr lang="en-IN" sz="1400" dirty="0"/>
              <a:t>).</a:t>
            </a:r>
          </a:p>
          <a:p>
            <a:r>
              <a:rPr lang="en-IN" sz="1400" b="1" dirty="0"/>
              <a:t>Story 2.3:</a:t>
            </a:r>
            <a:r>
              <a:rPr lang="en-IN" sz="1400" dirty="0"/>
              <a:t> Deduplicate faces (per-camera time window).</a:t>
            </a:r>
          </a:p>
          <a:p>
            <a:r>
              <a:rPr lang="en-IN" sz="1400" b="1" dirty="0"/>
              <a:t>Story 2.4:</a:t>
            </a:r>
            <a:r>
              <a:rPr lang="en-IN" sz="1400" dirty="0"/>
              <a:t> Extract cropped faces → send to Recognition service.</a:t>
            </a:r>
          </a:p>
          <a:p>
            <a:r>
              <a:rPr lang="en-IN" sz="1400" b="1" dirty="0"/>
              <a:t>Story 2.5:</a:t>
            </a:r>
            <a:r>
              <a:rPr lang="en-IN" sz="1400" dirty="0"/>
              <a:t> Redis integration to buffer detection output.</a:t>
            </a:r>
          </a:p>
          <a:p>
            <a:pPr marL="0" indent="0">
              <a:buNone/>
            </a:pPr>
            <a:endParaRPr lang="en-IN" sz="14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5F22F8E-F1D4-E326-987C-1F691CCC0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1"/>
          </a:xfrm>
        </p:spPr>
        <p:txBody>
          <a:bodyPr>
            <a:normAutofit/>
          </a:bodyPr>
          <a:lstStyle/>
          <a:p>
            <a:pPr algn="ctr"/>
            <a:r>
              <a:rPr lang="en-IN" sz="1600" b="1" dirty="0"/>
              <a:t>Development Task breakdown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02FCB9-A103-C22C-AE46-C41DCE544C7E}"/>
              </a:ext>
            </a:extLst>
          </p:cNvPr>
          <p:cNvSpPr txBox="1"/>
          <p:nvPr/>
        </p:nvSpPr>
        <p:spPr>
          <a:xfrm>
            <a:off x="9641152" y="882132"/>
            <a:ext cx="209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Team- Video+ AI/ML</a:t>
            </a:r>
          </a:p>
        </p:txBody>
      </p:sp>
    </p:spTree>
    <p:extLst>
      <p:ext uri="{BB962C8B-B14F-4D97-AF65-F5344CB8AC3E}">
        <p14:creationId xmlns:p14="http://schemas.microsoft.com/office/powerpoint/2010/main" val="41214884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B64E3-D80A-8B76-B799-E72E13D1A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7413E2-87A8-1BBB-E9DB-AF2732C95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2025. SMAP Technologies. Confidential.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6D6AC-971F-50D1-619C-A3AD3E5FC5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0588"/>
            <a:ext cx="10515600" cy="5235762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buNone/>
            </a:pPr>
            <a:r>
              <a:rPr lang="en-IN" sz="1400" b="1" dirty="0"/>
              <a:t>Epic 3 — Recognition Service</a:t>
            </a:r>
          </a:p>
          <a:p>
            <a:r>
              <a:rPr lang="en-IN" sz="1400" b="1" dirty="0"/>
              <a:t>Story 3.1:</a:t>
            </a:r>
            <a:r>
              <a:rPr lang="en-IN" sz="1400" dirty="0"/>
              <a:t> Implement embedding extraction (</a:t>
            </a:r>
            <a:r>
              <a:rPr lang="en-IN" sz="1400" dirty="0" err="1"/>
              <a:t>ArcFace</a:t>
            </a:r>
            <a:r>
              <a:rPr lang="en-IN" sz="1400" dirty="0"/>
              <a:t>/FaceNet, ONNX Runtime CPU).</a:t>
            </a:r>
          </a:p>
          <a:p>
            <a:r>
              <a:rPr lang="en-IN" sz="1400" b="1" dirty="0"/>
              <a:t>Story 3.2:</a:t>
            </a:r>
            <a:r>
              <a:rPr lang="en-IN" sz="1400" dirty="0"/>
              <a:t> Store embeddings in FAISS (CPU index).</a:t>
            </a:r>
          </a:p>
          <a:p>
            <a:r>
              <a:rPr lang="en-IN" sz="1400" b="1" dirty="0"/>
              <a:t>Story 3.3:</a:t>
            </a:r>
            <a:r>
              <a:rPr lang="en-IN" sz="1400" dirty="0"/>
              <a:t> Query FAISS for top-K matches, return confidence.</a:t>
            </a:r>
          </a:p>
          <a:p>
            <a:r>
              <a:rPr lang="en-IN" sz="1400" b="1" dirty="0"/>
              <a:t>Story 3.4:</a:t>
            </a:r>
            <a:r>
              <a:rPr lang="en-IN" sz="1400" dirty="0"/>
              <a:t> Redis cache for recent embeddings (avoid recompute in short window).</a:t>
            </a:r>
          </a:p>
          <a:p>
            <a:r>
              <a:rPr lang="en-IN" sz="1400" b="1" dirty="0"/>
              <a:t>Story 3.5:</a:t>
            </a:r>
            <a:r>
              <a:rPr lang="en-IN" sz="1400" dirty="0"/>
              <a:t> Handle low-confidence / no-match → send alert event.</a:t>
            </a:r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r>
              <a:rPr lang="en-US" sz="1400" b="1" dirty="0"/>
              <a:t>Epic 4 — Liveness Detection</a:t>
            </a:r>
          </a:p>
          <a:p>
            <a:r>
              <a:rPr lang="en-US" sz="1400" b="1" dirty="0"/>
              <a:t>Story 4.1:</a:t>
            </a:r>
            <a:r>
              <a:rPr lang="en-US" sz="1400" dirty="0"/>
              <a:t> Integrate lightweight liveness (</a:t>
            </a:r>
            <a:r>
              <a:rPr lang="en-US" sz="1400" dirty="0" err="1"/>
              <a:t>MediaPipe</a:t>
            </a:r>
            <a:r>
              <a:rPr lang="en-US" sz="1400" dirty="0"/>
              <a:t>/anti-spoof CNN or option to find something else which work on CPU).</a:t>
            </a:r>
          </a:p>
          <a:p>
            <a:r>
              <a:rPr lang="en-US" sz="1400" b="1" dirty="0"/>
              <a:t>Story 4.2:</a:t>
            </a:r>
            <a:r>
              <a:rPr lang="en-US" sz="1400" dirty="0"/>
              <a:t> Run liveness only on recognized candidates (optimize CPU).</a:t>
            </a:r>
          </a:p>
          <a:p>
            <a:r>
              <a:rPr lang="en-US" sz="1400" b="1" dirty="0"/>
              <a:t>Story 4.3:</a:t>
            </a:r>
            <a:r>
              <a:rPr lang="en-US" sz="1400" dirty="0"/>
              <a:t> Fail event → push “spoof alert” to Alerts Service.</a:t>
            </a:r>
          </a:p>
          <a:p>
            <a:pPr marL="0" indent="0">
              <a:buNone/>
            </a:pPr>
            <a:endParaRPr lang="en-IN" sz="14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A2C2CEB-85DC-5C71-CBA3-99F907090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1"/>
          </a:xfrm>
        </p:spPr>
        <p:txBody>
          <a:bodyPr>
            <a:normAutofit/>
          </a:bodyPr>
          <a:lstStyle/>
          <a:p>
            <a:pPr algn="ctr"/>
            <a:r>
              <a:rPr lang="en-IN" sz="1600" b="1" dirty="0"/>
              <a:t>Development Task breakdown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F4EB51-9B91-67A6-BB99-780ED3D9FF6C}"/>
              </a:ext>
            </a:extLst>
          </p:cNvPr>
          <p:cNvSpPr txBox="1"/>
          <p:nvPr/>
        </p:nvSpPr>
        <p:spPr>
          <a:xfrm>
            <a:off x="9641152" y="882132"/>
            <a:ext cx="209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Team- Video+ AI/ML</a:t>
            </a:r>
          </a:p>
        </p:txBody>
      </p:sp>
    </p:spTree>
    <p:extLst>
      <p:ext uri="{BB962C8B-B14F-4D97-AF65-F5344CB8AC3E}">
        <p14:creationId xmlns:p14="http://schemas.microsoft.com/office/powerpoint/2010/main" val="37458404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A0D5A-2E2A-164F-7FE5-07295DDF3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FD7F00-89A5-51EB-C77D-FD19B585A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2025. SMAP Technologies. Confidential.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55416-7B49-F14F-7AAD-117CC9CADC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0588"/>
            <a:ext cx="10515600" cy="5235762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buNone/>
            </a:pPr>
            <a:r>
              <a:rPr lang="en-US" sz="1400" b="1" dirty="0"/>
              <a:t>Epic 5 — Attendance Service</a:t>
            </a:r>
          </a:p>
          <a:p>
            <a:r>
              <a:rPr lang="en-US" sz="1400" b="1" dirty="0"/>
              <a:t>Story 5.1:</a:t>
            </a:r>
            <a:r>
              <a:rPr lang="en-US" sz="1400" dirty="0"/>
              <a:t> Define attendance event schema (IN/OUT, timestamp, camera, </a:t>
            </a:r>
            <a:r>
              <a:rPr lang="en-US" sz="1400" dirty="0" err="1"/>
              <a:t>employee_id</a:t>
            </a:r>
            <a:r>
              <a:rPr lang="en-US" sz="1400" dirty="0"/>
              <a:t>).</a:t>
            </a:r>
          </a:p>
          <a:p>
            <a:r>
              <a:rPr lang="en-US" sz="1400" b="1" dirty="0"/>
              <a:t>Story 5.2:</a:t>
            </a:r>
            <a:r>
              <a:rPr lang="en-US" sz="1400" dirty="0"/>
              <a:t> Implement deduplication (per employee within N-minute window).</a:t>
            </a:r>
          </a:p>
          <a:p>
            <a:r>
              <a:rPr lang="en-US" sz="1400" b="1" dirty="0"/>
              <a:t>Story 5.3:</a:t>
            </a:r>
            <a:r>
              <a:rPr lang="en-US" sz="1400" dirty="0"/>
              <a:t> Apply business rules (shift mapping, IN/OUT detection).</a:t>
            </a:r>
          </a:p>
          <a:p>
            <a:r>
              <a:rPr lang="en-US" sz="1400" b="1" dirty="0"/>
              <a:t>Story 5.4:</a:t>
            </a:r>
            <a:r>
              <a:rPr lang="en-US" sz="1400" dirty="0"/>
              <a:t> Integrate with OPA/</a:t>
            </a:r>
            <a:r>
              <a:rPr lang="en-US" sz="1400" dirty="0" err="1"/>
              <a:t>Keycloak</a:t>
            </a:r>
            <a:r>
              <a:rPr lang="en-US" sz="1400" dirty="0"/>
              <a:t> for access policy evaluation.</a:t>
            </a:r>
          </a:p>
          <a:p>
            <a:r>
              <a:rPr lang="en-US" sz="1400" b="1" dirty="0"/>
              <a:t>Story 5.5:</a:t>
            </a:r>
            <a:r>
              <a:rPr lang="en-US" sz="1400" dirty="0"/>
              <a:t> Persist events to Postgres DB.</a:t>
            </a:r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r>
              <a:rPr lang="en-IN" sz="1400" b="1" dirty="0"/>
              <a:t>Epic 6 — Alerts &amp; Logging</a:t>
            </a:r>
          </a:p>
          <a:p>
            <a:r>
              <a:rPr lang="en-IN" sz="1400" b="1" dirty="0"/>
              <a:t>Story 6.1:</a:t>
            </a:r>
            <a:r>
              <a:rPr lang="en-IN" sz="1400" dirty="0"/>
              <a:t> Define alert categories (No face, No match, Spoof, Repeated attempts, DB down).</a:t>
            </a:r>
          </a:p>
          <a:p>
            <a:r>
              <a:rPr lang="en-IN" sz="1400" b="1" dirty="0"/>
              <a:t>Story 6.2:</a:t>
            </a:r>
            <a:r>
              <a:rPr lang="en-IN" sz="1400" dirty="0"/>
              <a:t> Build Alert Service (publish/subscribe model).</a:t>
            </a:r>
          </a:p>
          <a:p>
            <a:r>
              <a:rPr lang="en-IN" sz="1400" b="1" dirty="0"/>
              <a:t>Story 6.3:</a:t>
            </a:r>
            <a:r>
              <a:rPr lang="en-IN" sz="1400" dirty="0"/>
              <a:t> Store alerts in Audit Log DB.</a:t>
            </a:r>
          </a:p>
          <a:p>
            <a:r>
              <a:rPr lang="en-IN" sz="1400" b="1" dirty="0"/>
              <a:t>Story 6.4:</a:t>
            </a:r>
            <a:r>
              <a:rPr lang="en-IN" sz="1400" dirty="0"/>
              <a:t> Integrate with monitoring (Prometheus/Grafana).</a:t>
            </a:r>
          </a:p>
          <a:p>
            <a:r>
              <a:rPr lang="en-IN" sz="1400" b="1" dirty="0"/>
              <a:t>Story 6.5:</a:t>
            </a:r>
            <a:r>
              <a:rPr lang="en-IN" sz="1400" dirty="0"/>
              <a:t> Expose API for dashboard notifications.</a:t>
            </a:r>
          </a:p>
          <a:p>
            <a:pPr marL="0" indent="0">
              <a:buNone/>
            </a:pPr>
            <a:endParaRPr lang="en-IN" sz="14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F7BC526-DB3A-7C23-D17C-A86116CD1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1"/>
          </a:xfrm>
        </p:spPr>
        <p:txBody>
          <a:bodyPr>
            <a:normAutofit/>
          </a:bodyPr>
          <a:lstStyle/>
          <a:p>
            <a:pPr algn="ctr"/>
            <a:r>
              <a:rPr lang="en-IN" sz="1600" b="1" dirty="0"/>
              <a:t>Development Task breakdown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760ED9-C4E1-089C-B416-78EB890EBB04}"/>
              </a:ext>
            </a:extLst>
          </p:cNvPr>
          <p:cNvSpPr txBox="1"/>
          <p:nvPr/>
        </p:nvSpPr>
        <p:spPr>
          <a:xfrm>
            <a:off x="9641152" y="882132"/>
            <a:ext cx="2389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Team- Core Server logic</a:t>
            </a:r>
          </a:p>
        </p:txBody>
      </p:sp>
    </p:spTree>
    <p:extLst>
      <p:ext uri="{BB962C8B-B14F-4D97-AF65-F5344CB8AC3E}">
        <p14:creationId xmlns:p14="http://schemas.microsoft.com/office/powerpoint/2010/main" val="26918567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03793-505B-19FC-E84F-A07DD3020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AEAC07-6BC7-A9CB-1000-2315CEAC4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2025. SMAP Technologies. Confidential.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FECA0-2AE2-2789-D9E5-5AFEB2B9A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0588"/>
            <a:ext cx="10515600" cy="5235762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buNone/>
            </a:pPr>
            <a:r>
              <a:rPr lang="en-IN" sz="1400" b="1" dirty="0"/>
              <a:t>Epic 7 — Caching &amp; Reliability</a:t>
            </a:r>
          </a:p>
          <a:p>
            <a:r>
              <a:rPr lang="en-IN" sz="1400" b="1" dirty="0"/>
              <a:t>Story 7.1</a:t>
            </a:r>
            <a:r>
              <a:rPr lang="en-IN" sz="1400" dirty="0"/>
              <a:t>: Use Redis for:</a:t>
            </a:r>
          </a:p>
          <a:p>
            <a:pPr lvl="1"/>
            <a:r>
              <a:rPr lang="en-IN" sz="1400" dirty="0"/>
              <a:t>recent embeddings (avoid recompute),</a:t>
            </a:r>
          </a:p>
          <a:p>
            <a:pPr lvl="1"/>
            <a:r>
              <a:rPr lang="en-IN" sz="1400" dirty="0"/>
              <a:t>deduplication state (employee recently seen),</a:t>
            </a:r>
          </a:p>
          <a:p>
            <a:pPr lvl="1"/>
            <a:r>
              <a:rPr lang="en-IN" sz="1400" dirty="0"/>
              <a:t>frame queue (temporary if recognition is slow).</a:t>
            </a:r>
          </a:p>
          <a:p>
            <a:r>
              <a:rPr lang="en-IN" sz="1400" b="1" dirty="0"/>
              <a:t>Story 7.2</a:t>
            </a:r>
            <a:r>
              <a:rPr lang="en-IN" sz="1400" dirty="0"/>
              <a:t>: Implement retry queue for failed DB writes.</a:t>
            </a:r>
          </a:p>
          <a:p>
            <a:r>
              <a:rPr lang="en-IN" sz="1400" b="1" dirty="0"/>
              <a:t>Story 7.3</a:t>
            </a:r>
            <a:r>
              <a:rPr lang="en-IN" sz="1400" dirty="0"/>
              <a:t>: Implement agent-to-server message buffering for outages.</a:t>
            </a:r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r>
              <a:rPr lang="en-IN" sz="1400" b="1" dirty="0"/>
              <a:t>Epic 8 — Admin &amp; Config Management</a:t>
            </a:r>
          </a:p>
          <a:p>
            <a:r>
              <a:rPr lang="en-IN" sz="1400" b="1" dirty="0"/>
              <a:t>Story 8.1:</a:t>
            </a:r>
            <a:r>
              <a:rPr lang="en-IN" sz="1400" dirty="0"/>
              <a:t> Camera configuration UI (add/edit/delete, assign location) – Implement </a:t>
            </a:r>
            <a:r>
              <a:rPr lang="en-IN" sz="1400" dirty="0" err="1"/>
              <a:t>onvif</a:t>
            </a:r>
            <a:r>
              <a:rPr lang="en-IN" sz="1400" dirty="0"/>
              <a:t> client to discover camera and auto add feature.</a:t>
            </a:r>
          </a:p>
          <a:p>
            <a:r>
              <a:rPr lang="en-IN" sz="1400" b="1" dirty="0"/>
              <a:t>Story 8.2:</a:t>
            </a:r>
            <a:r>
              <a:rPr lang="en-IN" sz="1400" dirty="0"/>
              <a:t> Employee CRUD (add/edit, upload </a:t>
            </a:r>
            <a:r>
              <a:rPr lang="en-IN" sz="1400" dirty="0" err="1"/>
              <a:t>enrollment</a:t>
            </a:r>
            <a:r>
              <a:rPr lang="en-IN" sz="1400" dirty="0"/>
              <a:t> images).</a:t>
            </a:r>
          </a:p>
          <a:p>
            <a:r>
              <a:rPr lang="en-IN" sz="1400" b="1" dirty="0"/>
              <a:t>Story 8.3:</a:t>
            </a:r>
            <a:r>
              <a:rPr lang="en-IN" sz="1400" dirty="0"/>
              <a:t> Sync embeddings into FAISS index after </a:t>
            </a:r>
            <a:r>
              <a:rPr lang="en-IN" sz="1400" dirty="0" err="1"/>
              <a:t>enrollment</a:t>
            </a:r>
            <a:r>
              <a:rPr lang="en-IN" sz="1400" dirty="0"/>
              <a:t>.</a:t>
            </a:r>
          </a:p>
          <a:p>
            <a:r>
              <a:rPr lang="en-IN" sz="1400" b="1" dirty="0"/>
              <a:t>Story 8.4:</a:t>
            </a:r>
            <a:r>
              <a:rPr lang="en-IN" sz="1400" dirty="0"/>
              <a:t> Shift &amp; policy management UI.</a:t>
            </a:r>
          </a:p>
          <a:p>
            <a:pPr marL="0" indent="0">
              <a:buNone/>
            </a:pPr>
            <a:endParaRPr lang="en-IN" sz="14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B54C33F-4FD1-1AE4-9B21-B9C0F0DB2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1"/>
          </a:xfrm>
        </p:spPr>
        <p:txBody>
          <a:bodyPr>
            <a:normAutofit/>
          </a:bodyPr>
          <a:lstStyle/>
          <a:p>
            <a:pPr algn="ctr"/>
            <a:r>
              <a:rPr lang="en-IN" sz="1600" b="1" dirty="0"/>
              <a:t>Development Task breakdown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8D2B88-CB17-F7FE-9A95-AB6DFDF899AD}"/>
              </a:ext>
            </a:extLst>
          </p:cNvPr>
          <p:cNvSpPr txBox="1"/>
          <p:nvPr/>
        </p:nvSpPr>
        <p:spPr>
          <a:xfrm>
            <a:off x="9641152" y="882132"/>
            <a:ext cx="2389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Team- Core Server logic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07E3CB-F969-0508-F896-BCEF00A78A2D}"/>
              </a:ext>
            </a:extLst>
          </p:cNvPr>
          <p:cNvSpPr txBox="1"/>
          <p:nvPr/>
        </p:nvSpPr>
        <p:spPr>
          <a:xfrm>
            <a:off x="9641152" y="3429000"/>
            <a:ext cx="166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Team- Frontend</a:t>
            </a:r>
          </a:p>
        </p:txBody>
      </p:sp>
    </p:spTree>
    <p:extLst>
      <p:ext uri="{BB962C8B-B14F-4D97-AF65-F5344CB8AC3E}">
        <p14:creationId xmlns:p14="http://schemas.microsoft.com/office/powerpoint/2010/main" val="3028384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22597-BCE6-D78B-9581-6CA81E1BD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49AD71-DE61-7C4E-218D-AEADF84D8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2025. SMAP Technologies. Confidential.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23D4F-28FB-A82B-7D9A-62F9BD86B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0588"/>
            <a:ext cx="10515600" cy="5235762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buNone/>
            </a:pPr>
            <a:r>
              <a:rPr lang="en-IN" sz="1400" b="1" dirty="0"/>
              <a:t>Epic 9 — Deployment &amp; Ops – Optional low priority </a:t>
            </a:r>
          </a:p>
          <a:p>
            <a:r>
              <a:rPr lang="en-IN" sz="1400" b="1" dirty="0"/>
              <a:t>Story 9.1:</a:t>
            </a:r>
            <a:r>
              <a:rPr lang="en-IN" sz="1400" dirty="0"/>
              <a:t> </a:t>
            </a:r>
            <a:r>
              <a:rPr lang="en-IN" sz="1400" dirty="0" err="1"/>
              <a:t>Dockerize</a:t>
            </a:r>
            <a:r>
              <a:rPr lang="en-IN" sz="1400" dirty="0"/>
              <a:t> each service (camera handler, </a:t>
            </a:r>
            <a:r>
              <a:rPr lang="en-IN" sz="1400" dirty="0" err="1"/>
              <a:t>ingestor</a:t>
            </a:r>
            <a:r>
              <a:rPr lang="en-IN" sz="1400" dirty="0"/>
              <a:t>, recognition, attendance, alerts).</a:t>
            </a:r>
          </a:p>
          <a:p>
            <a:r>
              <a:rPr lang="en-IN" sz="1400" b="1" dirty="0"/>
              <a:t>Story 9.2:</a:t>
            </a:r>
            <a:r>
              <a:rPr lang="en-IN" sz="1400" dirty="0"/>
              <a:t> Write docker-compose for single-server deployment.</a:t>
            </a:r>
          </a:p>
          <a:p>
            <a:r>
              <a:rPr lang="en-IN" sz="1400" b="1" dirty="0"/>
              <a:t>Story 9.3:</a:t>
            </a:r>
            <a:r>
              <a:rPr lang="en-IN" sz="1400" dirty="0"/>
              <a:t> Monitoring stack (Prometheus + Grafana).</a:t>
            </a:r>
          </a:p>
          <a:p>
            <a:r>
              <a:rPr lang="en-IN" sz="1400" b="1" dirty="0"/>
              <a:t>Story 9.4:</a:t>
            </a:r>
            <a:r>
              <a:rPr lang="en-IN" sz="1400" dirty="0"/>
              <a:t> Automated backups (Postgres, Redis, FAISS index).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Epic 10 — Camera Simulator Development</a:t>
            </a:r>
          </a:p>
          <a:p>
            <a:pPr lvl="0" fontAlgn="base">
              <a:spcAft>
                <a:spcPct val="0"/>
              </a:spcAft>
            </a:pPr>
            <a:r>
              <a:rPr lang="en-US" altLang="en-US" sz="1400" b="1" dirty="0"/>
              <a:t>Story 10.1</a:t>
            </a:r>
            <a:r>
              <a:rPr lang="en-US" altLang="en-US" sz="1400" dirty="0"/>
              <a:t>: Implement simple RTSP simulator using prerecorded video files (</a:t>
            </a:r>
            <a:r>
              <a:rPr lang="en-US" altLang="en-US" sz="1400" dirty="0" err="1"/>
              <a:t>FFmpeg</a:t>
            </a:r>
            <a:r>
              <a:rPr lang="en-US" altLang="en-US" sz="1400" dirty="0"/>
              <a:t> -</a:t>
            </a:r>
            <a:r>
              <a:rPr lang="en-US" altLang="en-US" sz="1400" dirty="0" err="1"/>
              <a:t>stream_loop</a:t>
            </a:r>
            <a:r>
              <a:rPr lang="en-US" altLang="en-US" sz="1400" dirty="0"/>
              <a:t> + RTSP server).</a:t>
            </a:r>
          </a:p>
          <a:p>
            <a:pPr lvl="0" fontAlgn="base">
              <a:spcAft>
                <a:spcPct val="0"/>
              </a:spcAft>
            </a:pPr>
            <a:r>
              <a:rPr lang="en-US" altLang="en-US" sz="1400" b="1" dirty="0"/>
              <a:t>Story 10.2</a:t>
            </a:r>
            <a:r>
              <a:rPr lang="en-US" altLang="en-US" sz="1400" dirty="0"/>
              <a:t>: Build simulator module to generate synthetic faces (random images, shuffle employees).</a:t>
            </a:r>
          </a:p>
          <a:p>
            <a:pPr lvl="0" fontAlgn="base">
              <a:spcAft>
                <a:spcPct val="0"/>
              </a:spcAft>
            </a:pPr>
            <a:r>
              <a:rPr lang="en-US" altLang="en-US" sz="1400" b="1" dirty="0"/>
              <a:t>Story 10.3</a:t>
            </a:r>
            <a:r>
              <a:rPr lang="en-US" altLang="en-US" sz="1400" dirty="0"/>
              <a:t>: Add configuration for multiple virtual cameras (each with </a:t>
            </a:r>
            <a:r>
              <a:rPr lang="en-US" altLang="en-US" sz="1400" dirty="0" err="1"/>
              <a:t>camera_id</a:t>
            </a:r>
            <a:r>
              <a:rPr lang="en-US" altLang="en-US" sz="1400" dirty="0"/>
              <a:t>, location).</a:t>
            </a:r>
          </a:p>
          <a:p>
            <a:pPr lvl="0" fontAlgn="base">
              <a:spcAft>
                <a:spcPct val="0"/>
              </a:spcAft>
            </a:pPr>
            <a:r>
              <a:rPr lang="en-US" altLang="en-US" sz="1400" b="1" dirty="0"/>
              <a:t>Story 10.4</a:t>
            </a:r>
            <a:r>
              <a:rPr lang="en-US" altLang="en-US" sz="1400" dirty="0"/>
              <a:t>: Implement "no face" scenario simulator (empty corridor/scene).</a:t>
            </a:r>
          </a:p>
          <a:p>
            <a:pPr lvl="0" fontAlgn="base">
              <a:spcAft>
                <a:spcPct val="0"/>
              </a:spcAft>
            </a:pPr>
            <a:r>
              <a:rPr lang="en-US" altLang="en-US" sz="1400" b="1" dirty="0"/>
              <a:t>Story 10.5</a:t>
            </a:r>
            <a:r>
              <a:rPr lang="en-US" altLang="en-US" sz="1400" dirty="0"/>
              <a:t>: Implement "spoof" scenario (printout/photo attack clips).</a:t>
            </a:r>
          </a:p>
          <a:p>
            <a:pPr lvl="0" fontAlgn="base">
              <a:spcAft>
                <a:spcPct val="0"/>
              </a:spcAft>
            </a:pPr>
            <a:r>
              <a:rPr lang="en-US" altLang="en-US" sz="1400" b="1" dirty="0"/>
              <a:t>Story 10.6</a:t>
            </a:r>
            <a:r>
              <a:rPr lang="en-US" altLang="en-US" sz="1400" dirty="0"/>
              <a:t>: Add time-based event playback (simulate shift change, crowd entry).</a:t>
            </a:r>
          </a:p>
          <a:p>
            <a:pPr lvl="0" fontAlgn="base">
              <a:spcAft>
                <a:spcPct val="0"/>
              </a:spcAft>
            </a:pPr>
            <a:r>
              <a:rPr lang="en-US" altLang="en-US" sz="1400" b="1" dirty="0"/>
              <a:t>Story 10.7</a:t>
            </a:r>
            <a:r>
              <a:rPr lang="en-US" altLang="en-US" sz="1400" dirty="0"/>
              <a:t>: Integrate simulator into CI/CD pipeline (auto-run test streams on each build). – </a:t>
            </a:r>
            <a:r>
              <a:rPr lang="en-US" altLang="en-US" sz="1400" b="1" dirty="0"/>
              <a:t>Optional (Later)</a:t>
            </a:r>
          </a:p>
          <a:p>
            <a:pPr lvl="0" fontAlgn="base">
              <a:spcAft>
                <a:spcPct val="0"/>
              </a:spcAft>
            </a:pPr>
            <a:r>
              <a:rPr lang="en-US" altLang="en-US" sz="1400" b="1" dirty="0"/>
              <a:t>Story 10.8</a:t>
            </a:r>
            <a:r>
              <a:rPr lang="en-US" altLang="en-US" sz="1400" dirty="0"/>
              <a:t>: Web UI toggle: choose between live NVR camera vs simulated camera in config. – </a:t>
            </a:r>
            <a:r>
              <a:rPr lang="en-US" altLang="en-US" sz="1400" b="1" dirty="0"/>
              <a:t>Optional (Later)</a:t>
            </a:r>
          </a:p>
          <a:p>
            <a:pPr marL="0" indent="0">
              <a:buNone/>
            </a:pPr>
            <a:endParaRPr lang="en-IN" sz="1400" b="1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0CBC20A-F3B0-8FA6-79B1-8A2A43AE1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1"/>
          </a:xfrm>
        </p:spPr>
        <p:txBody>
          <a:bodyPr>
            <a:normAutofit/>
          </a:bodyPr>
          <a:lstStyle/>
          <a:p>
            <a:pPr algn="ctr"/>
            <a:r>
              <a:rPr lang="en-IN" sz="1600" b="1" dirty="0"/>
              <a:t>Development Task breakdown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25020C-FC5C-4693-C602-A2F564EF50AD}"/>
              </a:ext>
            </a:extLst>
          </p:cNvPr>
          <p:cNvSpPr txBox="1"/>
          <p:nvPr/>
        </p:nvSpPr>
        <p:spPr>
          <a:xfrm>
            <a:off x="9641152" y="882132"/>
            <a:ext cx="2465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Team- DevOps/Combine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DBCB27-0CED-F1E7-13EB-9F96BAE1CDD3}"/>
              </a:ext>
            </a:extLst>
          </p:cNvPr>
          <p:cNvSpPr txBox="1"/>
          <p:nvPr/>
        </p:nvSpPr>
        <p:spPr>
          <a:xfrm>
            <a:off x="9641151" y="2952979"/>
            <a:ext cx="2112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Team- Test/Combine</a:t>
            </a:r>
          </a:p>
        </p:txBody>
      </p:sp>
    </p:spTree>
    <p:extLst>
      <p:ext uri="{BB962C8B-B14F-4D97-AF65-F5344CB8AC3E}">
        <p14:creationId xmlns:p14="http://schemas.microsoft.com/office/powerpoint/2010/main" val="368893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1602</TotalTime>
  <Words>2594</Words>
  <Application>Microsoft Office PowerPoint</Application>
  <PresentationFormat>Widescreen</PresentationFormat>
  <Paragraphs>266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Wingdings</vt:lpstr>
      <vt:lpstr>Office Theme</vt:lpstr>
      <vt:lpstr>PowerPoint Presentation</vt:lpstr>
      <vt:lpstr>Runtime Architecture &amp; threading model  Pipeline</vt:lpstr>
      <vt:lpstr>PowerPoint Presentation</vt:lpstr>
      <vt:lpstr>Process layout (processes)</vt:lpstr>
      <vt:lpstr>Concurrency model</vt:lpstr>
      <vt:lpstr>Cache mechanism for fast ephemeral state, deduplication</vt:lpstr>
      <vt:lpstr>Failure handling, retries and DB-down behavior</vt:lpstr>
      <vt:lpstr>Alert classification &amp; mapping to actions</vt:lpstr>
      <vt:lpstr>Policy evaluation flow (OPA integration)</vt:lpstr>
      <vt:lpstr>CPU Sizing Evaluation</vt:lpstr>
      <vt:lpstr>Development Task breakdown</vt:lpstr>
      <vt:lpstr>Development Task breakdown</vt:lpstr>
      <vt:lpstr>Development Task breakdown</vt:lpstr>
      <vt:lpstr>Development Task breakdown</vt:lpstr>
      <vt:lpstr>Development Task breakdown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Sreenath KP</dc:creator>
  <cp:lastModifiedBy>Deepak Carpenter</cp:lastModifiedBy>
  <cp:revision>54</cp:revision>
  <dcterms:created xsi:type="dcterms:W3CDTF">2025-09-16T04:04:21Z</dcterms:created>
  <dcterms:modified xsi:type="dcterms:W3CDTF">2025-09-22T18:17:10Z</dcterms:modified>
</cp:coreProperties>
</file>